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media/image80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Pompiere" panose="02000000000000000000"/>
      <p:regular r:id="rId15"/>
    </p:embeddedFont>
    <p:embeddedFont>
      <p:font typeface="Calibri" panose="020F050202020403020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2" autoAdjust="0"/>
  </p:normalViewPr>
  <p:slideViewPr>
    <p:cSldViewPr showGuides="1">
      <p:cViewPr varScale="1">
        <p:scale>
          <a:sx n="68" d="100"/>
          <a:sy n="68" d="100"/>
        </p:scale>
        <p:origin x="89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6.svg"/><Relationship Id="rId2" Type="http://schemas.openxmlformats.org/officeDocument/2006/relationships/image" Target="../media/image22.svg"/><Relationship Id="rId19" Type="http://schemas.openxmlformats.org/officeDocument/2006/relationships/image" Target="../media/image35.png"/><Relationship Id="rId18" Type="http://schemas.openxmlformats.org/officeDocument/2006/relationships/image" Target="../media/image34.svg"/><Relationship Id="rId17" Type="http://schemas.openxmlformats.org/officeDocument/2006/relationships/image" Target="../media/image33.png"/><Relationship Id="rId16" Type="http://schemas.openxmlformats.org/officeDocument/2006/relationships/image" Target="../media/image32.svg"/><Relationship Id="rId15" Type="http://schemas.openxmlformats.org/officeDocument/2006/relationships/image" Target="../media/image31.png"/><Relationship Id="rId14" Type="http://schemas.openxmlformats.org/officeDocument/2006/relationships/image" Target="../media/image30.svg"/><Relationship Id="rId13" Type="http://schemas.openxmlformats.org/officeDocument/2006/relationships/image" Target="../media/image29.png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4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2.sv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58.jpeg"/><Relationship Id="rId15" Type="http://schemas.openxmlformats.org/officeDocument/2006/relationships/image" Target="../media/image57.svg"/><Relationship Id="rId14" Type="http://schemas.openxmlformats.org/officeDocument/2006/relationships/image" Target="../media/image56.png"/><Relationship Id="rId13" Type="http://schemas.openxmlformats.org/officeDocument/2006/relationships/image" Target="../media/image55.sv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sv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9.svg"/><Relationship Id="rId10" Type="http://schemas.openxmlformats.org/officeDocument/2006/relationships/image" Target="../media/image68.png"/><Relationship Id="rId1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80.svg"/><Relationship Id="rId14" Type="http://schemas.openxmlformats.org/officeDocument/2006/relationships/image" Target="../media/image79.png"/><Relationship Id="rId13" Type="http://schemas.openxmlformats.org/officeDocument/2006/relationships/image" Target="../media/image78.png"/><Relationship Id="rId12" Type="http://schemas.openxmlformats.org/officeDocument/2006/relationships/image" Target="../media/image77.svg"/><Relationship Id="rId11" Type="http://schemas.openxmlformats.org/officeDocument/2006/relationships/image" Target="../media/image76.png"/><Relationship Id="rId10" Type="http://schemas.openxmlformats.org/officeDocument/2006/relationships/image" Target="../media/image75.svg"/><Relationship Id="rId1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jpeg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87.svg"/><Relationship Id="rId14" Type="http://schemas.openxmlformats.org/officeDocument/2006/relationships/image" Target="../media/image86.png"/><Relationship Id="rId13" Type="http://schemas.openxmlformats.org/officeDocument/2006/relationships/image" Target="../media/image85.svg"/><Relationship Id="rId12" Type="http://schemas.openxmlformats.org/officeDocument/2006/relationships/image" Target="../media/image84.png"/><Relationship Id="rId11" Type="http://schemas.openxmlformats.org/officeDocument/2006/relationships/image" Target="../media/image83.svg"/><Relationship Id="rId10" Type="http://schemas.openxmlformats.org/officeDocument/2006/relationships/image" Target="../media/image8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91669">
            <a:off x="3278791" y="1594787"/>
            <a:ext cx="1737858" cy="1583030"/>
          </a:xfrm>
          <a:custGeom>
            <a:avLst/>
            <a:gdLst/>
            <a:ahLst/>
            <a:cxnLst/>
            <a:rect l="l" t="t" r="r" b="b"/>
            <a:pathLst>
              <a:path w="1737858" h="1583030">
                <a:moveTo>
                  <a:pt x="0" y="0"/>
                </a:moveTo>
                <a:lnTo>
                  <a:pt x="1737857" y="0"/>
                </a:lnTo>
                <a:lnTo>
                  <a:pt x="1737857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3119757" flipV="1">
            <a:off x="13984448" y="1012389"/>
            <a:ext cx="4560715" cy="4833128"/>
          </a:xfrm>
          <a:custGeom>
            <a:avLst/>
            <a:gdLst/>
            <a:ahLst/>
            <a:cxnLst/>
            <a:rect l="l" t="t" r="r" b="b"/>
            <a:pathLst>
              <a:path w="4560715" h="4833128">
                <a:moveTo>
                  <a:pt x="0" y="4833128"/>
                </a:moveTo>
                <a:lnTo>
                  <a:pt x="4560715" y="4833128"/>
                </a:lnTo>
                <a:lnTo>
                  <a:pt x="4560715" y="0"/>
                </a:lnTo>
                <a:lnTo>
                  <a:pt x="0" y="0"/>
                </a:lnTo>
                <a:lnTo>
                  <a:pt x="0" y="48331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204484" y="750815"/>
            <a:ext cx="3940747" cy="4114800"/>
          </a:xfrm>
          <a:custGeom>
            <a:avLst/>
            <a:gdLst/>
            <a:ahLst/>
            <a:cxnLst/>
            <a:rect l="l" t="t" r="r" b="b"/>
            <a:pathLst>
              <a:path w="3940747" h="4114800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5970685"/>
            <a:ext cx="3929904" cy="3722691"/>
          </a:xfrm>
          <a:custGeom>
            <a:avLst/>
            <a:gdLst/>
            <a:ahLst/>
            <a:cxnLst/>
            <a:rect l="l" t="t" r="r" b="b"/>
            <a:pathLst>
              <a:path w="3929904" h="3722691">
                <a:moveTo>
                  <a:pt x="0" y="0"/>
                </a:moveTo>
                <a:lnTo>
                  <a:pt x="3929904" y="0"/>
                </a:lnTo>
                <a:lnTo>
                  <a:pt x="3929904" y="3722691"/>
                </a:lnTo>
                <a:lnTo>
                  <a:pt x="0" y="37226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654208" y="3190879"/>
            <a:ext cx="7069036" cy="205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60"/>
              </a:lnSpc>
            </a:pPr>
            <a:r>
              <a:rPr lang="en-US" sz="15615" spc="343">
                <a:solidFill>
                  <a:srgbClr val="000000"/>
                </a:solidFill>
                <a:latin typeface="Pompiere" panose="02000000000000000000"/>
                <a:ea typeface="Pompiere" panose="02000000000000000000"/>
                <a:cs typeface="Pompiere" panose="02000000000000000000"/>
                <a:sym typeface="Pompiere" panose="02000000000000000000"/>
              </a:rPr>
              <a:t>CARE</a:t>
            </a:r>
            <a:endParaRPr lang="en-US" sz="15615" spc="343">
              <a:solidFill>
                <a:srgbClr val="000000"/>
              </a:solidFill>
              <a:latin typeface="Pompiere" panose="02000000000000000000"/>
              <a:ea typeface="Pompiere" panose="02000000000000000000"/>
              <a:cs typeface="Pompiere" panose="02000000000000000000"/>
              <a:sym typeface="Pompiere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633199" y="5877591"/>
            <a:ext cx="11029225" cy="227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0"/>
              </a:lnSpc>
            </a:pPr>
            <a:r>
              <a:rPr lang="en-US" sz="17185" spc="189">
                <a:solidFill>
                  <a:srgbClr val="000000"/>
                </a:solidFill>
                <a:latin typeface="Pompiere" panose="02000000000000000000"/>
                <a:ea typeface="Pompiere" panose="02000000000000000000"/>
                <a:cs typeface="Pompiere" panose="02000000000000000000"/>
                <a:sym typeface="Pompiere" panose="02000000000000000000"/>
              </a:rPr>
              <a:t>COMPANION</a:t>
            </a:r>
            <a:endParaRPr lang="en-US" sz="17185" spc="189">
              <a:solidFill>
                <a:srgbClr val="000000"/>
              </a:solidFill>
              <a:latin typeface="Pompiere" panose="02000000000000000000"/>
              <a:ea typeface="Pompiere" panose="02000000000000000000"/>
              <a:cs typeface="Pompiere" panose="02000000000000000000"/>
              <a:sym typeface="Pompiere" panose="020000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23990" y="1047750"/>
            <a:ext cx="522504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By Team KSHEMANKARI</a:t>
            </a:r>
            <a:endParaRPr lang="en-US" sz="3000" dirty="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6288608" y="849567"/>
            <a:ext cx="6927975" cy="8739418"/>
          </a:xfrm>
          <a:custGeom>
            <a:avLst/>
            <a:gdLst/>
            <a:ahLst/>
            <a:cxnLst/>
            <a:rect l="l" t="t" r="r" b="b"/>
            <a:pathLst>
              <a:path w="6927975" h="8739418">
                <a:moveTo>
                  <a:pt x="0" y="0"/>
                </a:moveTo>
                <a:lnTo>
                  <a:pt x="6927974" y="0"/>
                </a:lnTo>
                <a:lnTo>
                  <a:pt x="6927974" y="8739418"/>
                </a:lnTo>
                <a:lnTo>
                  <a:pt x="0" y="873941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120756" y="1028700"/>
            <a:ext cx="4584113" cy="3975676"/>
          </a:xfrm>
          <a:custGeom>
            <a:avLst/>
            <a:gdLst/>
            <a:ahLst/>
            <a:cxnLst/>
            <a:rect l="l" t="t" r="r" b="b"/>
            <a:pathLst>
              <a:path w="4584113" h="3975676">
                <a:moveTo>
                  <a:pt x="0" y="0"/>
                </a:moveTo>
                <a:lnTo>
                  <a:pt x="4584113" y="0"/>
                </a:lnTo>
                <a:lnTo>
                  <a:pt x="4584113" y="3975676"/>
                </a:lnTo>
                <a:lnTo>
                  <a:pt x="0" y="3975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 rot="-810814">
            <a:off x="2567587" y="2692566"/>
            <a:ext cx="3714936" cy="136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5"/>
              </a:lnSpc>
            </a:pPr>
            <a:r>
              <a:rPr lang="en-US" sz="5335" spc="117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THE TEAM</a:t>
            </a:r>
            <a:endParaRPr lang="en-US" sz="5335" spc="117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96448" y="2505243"/>
            <a:ext cx="7112294" cy="585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90295" lvl="1" indent="-544830" algn="l">
              <a:lnSpc>
                <a:spcPts val="6715"/>
              </a:lnSpc>
              <a:buAutoNum type="arabicPeriod"/>
            </a:pPr>
            <a:r>
              <a:rPr lang="en-US" sz="5050" spc="111" dirty="0">
                <a:solidFill>
                  <a:srgbClr val="FFFFFF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Rishad Ababil Aebong (Leader, Circuit and Electronics specialist) </a:t>
            </a:r>
            <a:endParaRPr lang="en-US" sz="5050" spc="111" dirty="0">
              <a:solidFill>
                <a:srgbClr val="FFFFFF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  <a:p>
            <a:pPr marL="1090295" lvl="1" indent="-544830">
              <a:buAutoNum type="arabicPeriod"/>
            </a:pPr>
            <a:r>
              <a:rPr lang="en-US" sz="5050" spc="111" dirty="0">
                <a:solidFill>
                  <a:srgbClr val="FFFFFF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Swastika Dutta (Hardware and mechanical designer)</a:t>
            </a:r>
            <a:endParaRPr lang="en-US" sz="5050" spc="111" dirty="0">
              <a:solidFill>
                <a:srgbClr val="FFFFFF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  <a:p>
            <a:pPr marL="1090295" lvl="1" indent="-544830" algn="l">
              <a:lnSpc>
                <a:spcPts val="6715"/>
              </a:lnSpc>
              <a:buAutoNum type="arabicPeriod"/>
            </a:pPr>
            <a:r>
              <a:rPr lang="en-US" sz="5050" spc="111" dirty="0" err="1">
                <a:solidFill>
                  <a:srgbClr val="FFFFFF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Songhita</a:t>
            </a:r>
            <a:r>
              <a:rPr lang="en-US" sz="5050" spc="111" dirty="0">
                <a:solidFill>
                  <a:srgbClr val="FFFFFF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 D</a:t>
            </a:r>
            <a:r>
              <a:rPr lang="en-US" sz="5050" spc="111" dirty="0" err="1">
                <a:solidFill>
                  <a:srgbClr val="FFFFFF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utta</a:t>
            </a:r>
            <a:r>
              <a:rPr lang="en-US" sz="5050" spc="111" dirty="0">
                <a:solidFill>
                  <a:srgbClr val="FFFFFF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 (Logistics Coordinator)</a:t>
            </a:r>
            <a:endParaRPr lang="en-US" sz="5050" spc="111" dirty="0">
              <a:solidFill>
                <a:srgbClr val="FFFFFF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6" name="Freeform 6"/>
          <p:cNvSpPr/>
          <p:nvPr/>
        </p:nvSpPr>
        <p:spPr>
          <a:xfrm rot="5856579" flipV="1">
            <a:off x="764579" y="5127721"/>
            <a:ext cx="3435988" cy="3641221"/>
          </a:xfrm>
          <a:custGeom>
            <a:avLst/>
            <a:gdLst/>
            <a:ahLst/>
            <a:cxnLst/>
            <a:rect l="l" t="t" r="r" b="b"/>
            <a:pathLst>
              <a:path w="3435988" h="3641221">
                <a:moveTo>
                  <a:pt x="0" y="3641221"/>
                </a:moveTo>
                <a:lnTo>
                  <a:pt x="3435989" y="3641221"/>
                </a:lnTo>
                <a:lnTo>
                  <a:pt x="3435989" y="0"/>
                </a:lnTo>
                <a:lnTo>
                  <a:pt x="0" y="0"/>
                </a:lnTo>
                <a:lnTo>
                  <a:pt x="0" y="364122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568932">
            <a:off x="15282144" y="5728523"/>
            <a:ext cx="1443297" cy="2069242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6190582">
            <a:off x="14034320" y="781506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2849" y="1511590"/>
            <a:ext cx="6003579" cy="7573322"/>
          </a:xfrm>
          <a:custGeom>
            <a:avLst/>
            <a:gdLst/>
            <a:ahLst/>
            <a:cxnLst/>
            <a:rect l="l" t="t" r="r" b="b"/>
            <a:pathLst>
              <a:path w="6003579" h="7573322">
                <a:moveTo>
                  <a:pt x="0" y="0"/>
                </a:moveTo>
                <a:lnTo>
                  <a:pt x="6003579" y="0"/>
                </a:lnTo>
                <a:lnTo>
                  <a:pt x="6003579" y="7573322"/>
                </a:lnTo>
                <a:lnTo>
                  <a:pt x="0" y="75733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349303" y="1535607"/>
            <a:ext cx="9289030" cy="7549304"/>
            <a:chOff x="0" y="0"/>
            <a:chExt cx="12654042" cy="10284089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12590542" cy="10220589"/>
            </a:xfrm>
            <a:custGeom>
              <a:avLst/>
              <a:gdLst/>
              <a:ahLst/>
              <a:cxnLst/>
              <a:rect l="l" t="t" r="r" b="b"/>
              <a:pathLst>
                <a:path w="12590542" h="10220589">
                  <a:moveTo>
                    <a:pt x="12497832" y="10220589"/>
                  </a:moveTo>
                  <a:lnTo>
                    <a:pt x="92710" y="10220589"/>
                  </a:lnTo>
                  <a:cubicBezTo>
                    <a:pt x="41910" y="10220589"/>
                    <a:pt x="0" y="10178679"/>
                    <a:pt x="0" y="1012787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2496562" y="0"/>
                  </a:lnTo>
                  <a:cubicBezTo>
                    <a:pt x="12547362" y="0"/>
                    <a:pt x="12589272" y="41910"/>
                    <a:pt x="12589272" y="92710"/>
                  </a:cubicBezTo>
                  <a:lnTo>
                    <a:pt x="12589272" y="10126609"/>
                  </a:lnTo>
                  <a:cubicBezTo>
                    <a:pt x="12590542" y="10178679"/>
                    <a:pt x="12548632" y="10220589"/>
                    <a:pt x="12497832" y="10220589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2654042" cy="10284089"/>
            </a:xfrm>
            <a:custGeom>
              <a:avLst/>
              <a:gdLst/>
              <a:ahLst/>
              <a:cxnLst/>
              <a:rect l="l" t="t" r="r" b="b"/>
              <a:pathLst>
                <a:path w="12654042" h="10284089">
                  <a:moveTo>
                    <a:pt x="12529582" y="59690"/>
                  </a:moveTo>
                  <a:cubicBezTo>
                    <a:pt x="12565142" y="59690"/>
                    <a:pt x="12594352" y="88900"/>
                    <a:pt x="12594352" y="124460"/>
                  </a:cubicBezTo>
                  <a:lnTo>
                    <a:pt x="12594352" y="10159629"/>
                  </a:lnTo>
                  <a:cubicBezTo>
                    <a:pt x="12594352" y="10195189"/>
                    <a:pt x="12565142" y="10224399"/>
                    <a:pt x="12529582" y="10224399"/>
                  </a:cubicBezTo>
                  <a:lnTo>
                    <a:pt x="124460" y="10224399"/>
                  </a:lnTo>
                  <a:cubicBezTo>
                    <a:pt x="88900" y="10224399"/>
                    <a:pt x="59690" y="10195189"/>
                    <a:pt x="59690" y="101596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2529582" y="59690"/>
                  </a:lnTo>
                  <a:moveTo>
                    <a:pt x="1252958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159629"/>
                  </a:lnTo>
                  <a:cubicBezTo>
                    <a:pt x="0" y="10228209"/>
                    <a:pt x="55880" y="10284089"/>
                    <a:pt x="124460" y="10284089"/>
                  </a:cubicBezTo>
                  <a:lnTo>
                    <a:pt x="12529582" y="10284089"/>
                  </a:lnTo>
                  <a:cubicBezTo>
                    <a:pt x="12598162" y="10284089"/>
                    <a:pt x="12654042" y="10228209"/>
                    <a:pt x="12654042" y="10159629"/>
                  </a:cubicBezTo>
                  <a:lnTo>
                    <a:pt x="12654042" y="124460"/>
                  </a:lnTo>
                  <a:cubicBezTo>
                    <a:pt x="12654042" y="55880"/>
                    <a:pt x="12598162" y="0"/>
                    <a:pt x="12529582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7886819" y="3672017"/>
            <a:ext cx="1979545" cy="1979545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6" y="0"/>
                </a:lnTo>
                <a:lnTo>
                  <a:pt x="1979546" y="1979545"/>
                </a:lnTo>
                <a:lnTo>
                  <a:pt x="0" y="19795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004045" y="3672017"/>
            <a:ext cx="1979545" cy="1979545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6" y="0"/>
                </a:lnTo>
                <a:lnTo>
                  <a:pt x="1979546" y="1979545"/>
                </a:lnTo>
                <a:lnTo>
                  <a:pt x="0" y="19795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117066" y="3672017"/>
            <a:ext cx="1979545" cy="1979545"/>
          </a:xfrm>
          <a:custGeom>
            <a:avLst/>
            <a:gdLst/>
            <a:ahLst/>
            <a:cxnLst/>
            <a:rect l="l" t="t" r="r" b="b"/>
            <a:pathLst>
              <a:path w="1979545" h="1979545">
                <a:moveTo>
                  <a:pt x="0" y="0"/>
                </a:moveTo>
                <a:lnTo>
                  <a:pt x="1979545" y="0"/>
                </a:lnTo>
                <a:lnTo>
                  <a:pt x="1979545" y="1979545"/>
                </a:lnTo>
                <a:lnTo>
                  <a:pt x="0" y="197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568932">
            <a:off x="-30836" y="8050291"/>
            <a:ext cx="1443297" cy="2069242"/>
          </a:xfrm>
          <a:custGeom>
            <a:avLst/>
            <a:gdLst/>
            <a:ahLst/>
            <a:cxnLst/>
            <a:rect l="l" t="t" r="r" b="b"/>
            <a:pathLst>
              <a:path w="1443297" h="2069242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027046">
            <a:off x="16502236" y="496365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8" y="0"/>
                </a:lnTo>
                <a:lnTo>
                  <a:pt x="1514128" y="1379233"/>
                </a:lnTo>
                <a:lnTo>
                  <a:pt x="0" y="13792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8878474" flipV="1">
            <a:off x="14462783" y="8607260"/>
            <a:ext cx="4427299" cy="1110849"/>
          </a:xfrm>
          <a:custGeom>
            <a:avLst/>
            <a:gdLst/>
            <a:ahLst/>
            <a:cxnLst/>
            <a:rect l="l" t="t" r="r" b="b"/>
            <a:pathLst>
              <a:path w="4427299" h="1110849">
                <a:moveTo>
                  <a:pt x="0" y="1110850"/>
                </a:moveTo>
                <a:lnTo>
                  <a:pt x="4427299" y="1110850"/>
                </a:lnTo>
                <a:lnTo>
                  <a:pt x="4427299" y="0"/>
                </a:lnTo>
                <a:lnTo>
                  <a:pt x="0" y="0"/>
                </a:lnTo>
                <a:lnTo>
                  <a:pt x="0" y="111085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2700000">
            <a:off x="7879999" y="4243949"/>
            <a:ext cx="1751916" cy="1388792"/>
          </a:xfrm>
          <a:custGeom>
            <a:avLst/>
            <a:gdLst/>
            <a:ahLst/>
            <a:cxnLst/>
            <a:rect l="l" t="t" r="r" b="b"/>
            <a:pathLst>
              <a:path w="1751916" h="1388792">
                <a:moveTo>
                  <a:pt x="0" y="0"/>
                </a:moveTo>
                <a:lnTo>
                  <a:pt x="1751916" y="0"/>
                </a:lnTo>
                <a:lnTo>
                  <a:pt x="1751916" y="1388792"/>
                </a:lnTo>
                <a:lnTo>
                  <a:pt x="0" y="13887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573847" y="3946945"/>
            <a:ext cx="839942" cy="1429689"/>
          </a:xfrm>
          <a:custGeom>
            <a:avLst/>
            <a:gdLst/>
            <a:ahLst/>
            <a:cxnLst/>
            <a:rect l="l" t="t" r="r" b="b"/>
            <a:pathLst>
              <a:path w="839942" h="1429689">
                <a:moveTo>
                  <a:pt x="0" y="0"/>
                </a:moveTo>
                <a:lnTo>
                  <a:pt x="839942" y="0"/>
                </a:lnTo>
                <a:lnTo>
                  <a:pt x="839942" y="1429689"/>
                </a:lnTo>
                <a:lnTo>
                  <a:pt x="0" y="142968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272986" y="3827937"/>
            <a:ext cx="1667704" cy="1667704"/>
          </a:xfrm>
          <a:custGeom>
            <a:avLst/>
            <a:gdLst/>
            <a:ahLst/>
            <a:cxnLst/>
            <a:rect l="l" t="t" r="r" b="b"/>
            <a:pathLst>
              <a:path w="1667704" h="1667704">
                <a:moveTo>
                  <a:pt x="0" y="0"/>
                </a:moveTo>
                <a:lnTo>
                  <a:pt x="1667704" y="0"/>
                </a:lnTo>
                <a:lnTo>
                  <a:pt x="1667704" y="1667704"/>
                </a:lnTo>
                <a:lnTo>
                  <a:pt x="0" y="166770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592844" y="2289611"/>
            <a:ext cx="5425909" cy="10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PROJECT DETAILS (HARDWARE)</a:t>
            </a:r>
            <a:endParaRPr lang="en-US" sz="2925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10547" y="3370890"/>
            <a:ext cx="4790505" cy="558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•Core components and functions: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• ESP32 — main controller with Wi‑Fi &amp; Bluetooth for connectivity.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• </a:t>
            </a:r>
            <a:r>
              <a:rPr lang="en-US" sz="1610" spc="67" dirty="0" err="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HuskyLens</a:t>
            </a: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— on-device AI vision for pill recognition and object detection.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• MAX30102 — optical sensor for heart rate &amp; SpO2 monitoring.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• MPU6050 — accelerometer + gyroscope for motion and fall detection.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• OLED display &amp; buzzer— visual and  </a:t>
            </a:r>
            <a:r>
              <a:rPr lang="en-US" sz="1610" spc="67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beeping reminders.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1550"/>
              </a:lnSpc>
              <a:spcBef>
                <a:spcPct val="0"/>
              </a:spcBef>
            </a:pP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• GPS module — provides location when help is needed.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610" spc="67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</a:t>
            </a:r>
            <a:endParaRPr lang="en-US" sz="1610" spc="67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6654">
            <a:off x="8443050" y="2997840"/>
            <a:ext cx="1437070" cy="1309040"/>
          </a:xfrm>
          <a:custGeom>
            <a:avLst/>
            <a:gdLst/>
            <a:ahLst/>
            <a:cxnLst/>
            <a:rect l="l" t="t" r="r" b="b"/>
            <a:pathLst>
              <a:path w="1437070" h="1309040">
                <a:moveTo>
                  <a:pt x="0" y="0"/>
                </a:moveTo>
                <a:lnTo>
                  <a:pt x="1437070" y="0"/>
                </a:lnTo>
                <a:lnTo>
                  <a:pt x="1437070" y="1309040"/>
                </a:lnTo>
                <a:lnTo>
                  <a:pt x="0" y="130904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964208" y="1893931"/>
            <a:ext cx="3705330" cy="976981"/>
            <a:chOff x="0" y="0"/>
            <a:chExt cx="1066981" cy="2813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6981" cy="281330"/>
            </a:xfrm>
            <a:custGeom>
              <a:avLst/>
              <a:gdLst/>
              <a:ahLst/>
              <a:cxnLst/>
              <a:rect l="l" t="t" r="r" b="b"/>
              <a:pathLst>
                <a:path w="1066981" h="281330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29888"/>
            <a:ext cx="3740501" cy="911138"/>
            <a:chOff x="0" y="0"/>
            <a:chExt cx="1077109" cy="2623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7109" cy="262370"/>
            </a:xfrm>
            <a:custGeom>
              <a:avLst/>
              <a:gdLst/>
              <a:ahLst/>
              <a:cxnLst/>
              <a:rect l="l" t="t" r="r" b="b"/>
              <a:pathLst>
                <a:path w="1077109" h="262370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26150" y="6685966"/>
            <a:ext cx="3705330" cy="956919"/>
            <a:chOff x="0" y="0"/>
            <a:chExt cx="1066981" cy="2755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6981" cy="275553"/>
            </a:xfrm>
            <a:custGeom>
              <a:avLst/>
              <a:gdLst/>
              <a:ahLst/>
              <a:cxnLst/>
              <a:rect l="l" t="t" r="r" b="b"/>
              <a:pathLst>
                <a:path w="1066981" h="275553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90807" y="1893931"/>
            <a:ext cx="3740501" cy="911138"/>
            <a:chOff x="0" y="0"/>
            <a:chExt cx="1077109" cy="2623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7109" cy="262370"/>
            </a:xfrm>
            <a:custGeom>
              <a:avLst/>
              <a:gdLst/>
              <a:ahLst/>
              <a:cxnLst/>
              <a:rect l="l" t="t" r="r" b="b"/>
              <a:pathLst>
                <a:path w="1077109" h="262370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53970" y="4320363"/>
            <a:ext cx="3705330" cy="956919"/>
            <a:chOff x="0" y="0"/>
            <a:chExt cx="1066981" cy="2755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6981" cy="275553"/>
            </a:xfrm>
            <a:custGeom>
              <a:avLst/>
              <a:gdLst/>
              <a:ahLst/>
              <a:cxnLst/>
              <a:rect l="l" t="t" r="r" b="b"/>
              <a:pathLst>
                <a:path w="1066981" h="275553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12701" y="6685966"/>
            <a:ext cx="3705330" cy="976981"/>
            <a:chOff x="0" y="0"/>
            <a:chExt cx="1066981" cy="2813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6981" cy="281330"/>
            </a:xfrm>
            <a:custGeom>
              <a:avLst/>
              <a:gdLst/>
              <a:ahLst/>
              <a:cxnLst/>
              <a:rect l="l" t="t" r="r" b="b"/>
              <a:pathLst>
                <a:path w="1066981" h="281330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 rot="-1643804">
            <a:off x="10477014" y="2895848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204962">
            <a:off x="11333721" y="4479549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1543996">
            <a:off x="10606292" y="6494174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-8767587">
            <a:off x="5953077" y="3012795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-10366412">
            <a:off x="4870860" y="4744070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 rot="9139054">
            <a:off x="5920775" y="6494174"/>
            <a:ext cx="2196191" cy="611817"/>
          </a:xfrm>
          <a:custGeom>
            <a:avLst/>
            <a:gdLst/>
            <a:ahLst/>
            <a:cxnLst/>
            <a:rect l="l" t="t" r="r" b="b"/>
            <a:pathLst>
              <a:path w="2196191" h="611817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330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-8261386">
            <a:off x="8672556" y="5958895"/>
            <a:ext cx="1437070" cy="1309040"/>
          </a:xfrm>
          <a:custGeom>
            <a:avLst/>
            <a:gdLst/>
            <a:ahLst/>
            <a:cxnLst/>
            <a:rect l="l" t="t" r="r" b="b"/>
            <a:pathLst>
              <a:path w="1437070" h="1309040">
                <a:moveTo>
                  <a:pt x="0" y="0"/>
                </a:moveTo>
                <a:lnTo>
                  <a:pt x="1437070" y="0"/>
                </a:lnTo>
                <a:lnTo>
                  <a:pt x="1437070" y="1309040"/>
                </a:lnTo>
                <a:lnTo>
                  <a:pt x="0" y="130904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538533" y="1900034"/>
            <a:ext cx="1130400" cy="988586"/>
          </a:xfrm>
          <a:custGeom>
            <a:avLst/>
            <a:gdLst/>
            <a:ahLst/>
            <a:cxnLst/>
            <a:rect l="l" t="t" r="r" b="b"/>
            <a:pathLst>
              <a:path w="1130400" h="988586">
                <a:moveTo>
                  <a:pt x="0" y="0"/>
                </a:moveTo>
                <a:lnTo>
                  <a:pt x="1130400" y="0"/>
                </a:lnTo>
                <a:lnTo>
                  <a:pt x="1130400" y="988586"/>
                </a:lnTo>
                <a:lnTo>
                  <a:pt x="0" y="988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6764683" y="1816483"/>
            <a:ext cx="1130400" cy="988586"/>
          </a:xfrm>
          <a:custGeom>
            <a:avLst/>
            <a:gdLst/>
            <a:ahLst/>
            <a:cxnLst/>
            <a:rect l="l" t="t" r="r" b="b"/>
            <a:pathLst>
              <a:path w="1130400" h="988586">
                <a:moveTo>
                  <a:pt x="0" y="0"/>
                </a:moveTo>
                <a:lnTo>
                  <a:pt x="1130400" y="0"/>
                </a:lnTo>
                <a:lnTo>
                  <a:pt x="1130400" y="988586"/>
                </a:lnTo>
                <a:lnTo>
                  <a:pt x="0" y="988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103733" y="4359966"/>
            <a:ext cx="1083427" cy="850983"/>
          </a:xfrm>
          <a:custGeom>
            <a:avLst/>
            <a:gdLst/>
            <a:ahLst/>
            <a:cxnLst/>
            <a:rect l="l" t="t" r="r" b="b"/>
            <a:pathLst>
              <a:path w="1083427" h="850983">
                <a:moveTo>
                  <a:pt x="0" y="0"/>
                </a:moveTo>
                <a:lnTo>
                  <a:pt x="1083427" y="0"/>
                </a:lnTo>
                <a:lnTo>
                  <a:pt x="1083427" y="850983"/>
                </a:lnTo>
                <a:lnTo>
                  <a:pt x="0" y="8509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4012551" y="4669204"/>
            <a:ext cx="3088337" cy="32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2295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Heart rate</a:t>
            </a:r>
            <a:endParaRPr lang="en-US" sz="2295" spc="96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3571588" y="4359966"/>
            <a:ext cx="1083427" cy="850983"/>
          </a:xfrm>
          <a:custGeom>
            <a:avLst/>
            <a:gdLst/>
            <a:ahLst/>
            <a:cxnLst/>
            <a:rect l="l" t="t" r="r" b="b"/>
            <a:pathLst>
              <a:path w="1083427" h="850983">
                <a:moveTo>
                  <a:pt x="0" y="0"/>
                </a:moveTo>
                <a:lnTo>
                  <a:pt x="1083427" y="0"/>
                </a:lnTo>
                <a:lnTo>
                  <a:pt x="1083427" y="850983"/>
                </a:lnTo>
                <a:lnTo>
                  <a:pt x="0" y="8509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2460120" y="6928452"/>
            <a:ext cx="711790" cy="528019"/>
          </a:xfrm>
          <a:custGeom>
            <a:avLst/>
            <a:gdLst/>
            <a:ahLst/>
            <a:cxnLst/>
            <a:rect l="l" t="t" r="r" b="b"/>
            <a:pathLst>
              <a:path w="711790" h="528019">
                <a:moveTo>
                  <a:pt x="0" y="0"/>
                </a:moveTo>
                <a:lnTo>
                  <a:pt x="711790" y="0"/>
                </a:lnTo>
                <a:lnTo>
                  <a:pt x="711790" y="528019"/>
                </a:lnTo>
                <a:lnTo>
                  <a:pt x="0" y="5280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645447" y="4720532"/>
            <a:ext cx="3088337" cy="32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2295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Heart Rate</a:t>
            </a:r>
            <a:endParaRPr lang="en-US" sz="2295" spc="96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325720" y="2239128"/>
            <a:ext cx="3088337" cy="32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2295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Fall Detection</a:t>
            </a:r>
            <a:endParaRPr lang="en-US" sz="2295" spc="96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964208" y="3002558"/>
            <a:ext cx="4005500" cy="67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5125" lvl="1" indent="-182245" algn="l">
              <a:lnSpc>
                <a:spcPts val="1775"/>
              </a:lnSpc>
              <a:buFont typeface="Arial" panose="020B0604020202020204"/>
              <a:buChar char="•"/>
            </a:pPr>
            <a:r>
              <a:rPr lang="en-US" sz="1690" spc="71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MPU6050 data is filtered and analyzed to detect falls; thresholds tuned to avoid false alarms.</a:t>
            </a:r>
            <a:endParaRPr lang="en-US" sz="1690" spc="71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816015" y="6926487"/>
            <a:ext cx="3088337" cy="554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95" spc="87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Medicine Information</a:t>
            </a:r>
            <a:endParaRPr lang="en-US" sz="2095" spc="87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110847" y="2225734"/>
            <a:ext cx="3088337" cy="32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2295" spc="9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Fall Detection</a:t>
            </a:r>
            <a:endParaRPr lang="en-US" sz="2295" spc="96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529695" y="6926487"/>
            <a:ext cx="3088337" cy="554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95" spc="87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Medicine Information</a:t>
            </a:r>
            <a:endParaRPr lang="en-US" sz="2095" spc="87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28700" y="5374377"/>
            <a:ext cx="4005500" cy="451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5125" lvl="1" indent="-182245" algn="l">
              <a:lnSpc>
                <a:spcPts val="1775"/>
              </a:lnSpc>
              <a:buFont typeface="Arial" panose="020B0604020202020204"/>
              <a:buChar char="•"/>
            </a:pPr>
            <a:r>
              <a:rPr lang="en-US" sz="1690" spc="71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MAX30102 routines read IR/Red signals to compute BPM and estimate SpO2 values</a:t>
            </a:r>
            <a:endParaRPr lang="en-US" sz="1690" spc="71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226150" y="7804810"/>
            <a:ext cx="4005500" cy="4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715" lvl="1" indent="-193040" algn="l">
              <a:lnSpc>
                <a:spcPts val="1880"/>
              </a:lnSpc>
              <a:buFont typeface="Arial" panose="020B0604020202020204"/>
              <a:buChar char="•"/>
            </a:pPr>
            <a:r>
              <a:rPr lang="en-US" sz="1790" spc="7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Vision routines train HuskyLens for pill recognition (on-device learning).</a:t>
            </a:r>
            <a:endParaRPr lang="en-US" sz="1790" spc="7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612532" y="2921392"/>
            <a:ext cx="4005500" cy="4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715" lvl="1" indent="-193040" algn="l">
              <a:lnSpc>
                <a:spcPts val="1880"/>
              </a:lnSpc>
              <a:buFont typeface="Arial" panose="020B0604020202020204"/>
              <a:buChar char="•"/>
            </a:pPr>
            <a:r>
              <a:rPr lang="en-US" sz="1790" spc="7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Successful detection of simulated falls during trials.</a:t>
            </a:r>
            <a:endParaRPr lang="en-US" sz="1790" spc="7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553970" y="5374377"/>
            <a:ext cx="4005500" cy="4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715" lvl="1" indent="-193040" algn="l">
              <a:lnSpc>
                <a:spcPts val="1880"/>
              </a:lnSpc>
              <a:buFont typeface="Arial" panose="020B0604020202020204"/>
              <a:buChar char="•"/>
            </a:pPr>
            <a:r>
              <a:rPr lang="en-US" sz="1790" spc="7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Heart &amp; SpO2 readings close to a finger pulse-oximeter in tests.</a:t>
            </a:r>
            <a:endParaRPr lang="en-US" sz="1790" spc="7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945303" y="7804810"/>
            <a:ext cx="4005500" cy="4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715" lvl="1" indent="-193040" algn="l">
              <a:lnSpc>
                <a:spcPts val="1880"/>
              </a:lnSpc>
              <a:buFont typeface="Arial" panose="020B0604020202020204"/>
              <a:buChar char="•"/>
            </a:pPr>
            <a:r>
              <a:rPr lang="en-US" sz="1790" spc="7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Accurate pill recognition in trained samples.</a:t>
            </a:r>
            <a:endParaRPr lang="en-US" sz="1790" spc="7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965511" y="4386087"/>
            <a:ext cx="4392148" cy="119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0"/>
              </a:lnSpc>
              <a:spcBef>
                <a:spcPct val="0"/>
              </a:spcBef>
            </a:pPr>
            <a:r>
              <a:rPr lang="en-US" sz="3740" spc="157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Programming &amp; Results</a:t>
            </a:r>
            <a:endParaRPr lang="en-US" sz="3740" spc="157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13401512" y="6920545"/>
            <a:ext cx="711790" cy="528019"/>
          </a:xfrm>
          <a:custGeom>
            <a:avLst/>
            <a:gdLst/>
            <a:ahLst/>
            <a:cxnLst/>
            <a:rect l="l" t="t" r="r" b="b"/>
            <a:pathLst>
              <a:path w="711790" h="528019">
                <a:moveTo>
                  <a:pt x="0" y="0"/>
                </a:moveTo>
                <a:lnTo>
                  <a:pt x="711790" y="0"/>
                </a:lnTo>
                <a:lnTo>
                  <a:pt x="711790" y="528019"/>
                </a:lnTo>
                <a:lnTo>
                  <a:pt x="0" y="5280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53930" y="1321703"/>
            <a:ext cx="9543604" cy="143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5"/>
              </a:lnSpc>
            </a:pPr>
            <a:r>
              <a:rPr lang="en-US" sz="5300" spc="22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BENEFITS OF CARECOMPANION</a:t>
            </a:r>
            <a:endParaRPr lang="en-US" sz="5300" spc="222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555791" y="2965719"/>
            <a:ext cx="2926328" cy="1389808"/>
            <a:chOff x="0" y="0"/>
            <a:chExt cx="842661" cy="4002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2661" cy="400207"/>
            </a:xfrm>
            <a:custGeom>
              <a:avLst/>
              <a:gdLst/>
              <a:ahLst/>
              <a:cxnLst/>
              <a:rect l="l" t="t" r="r" b="b"/>
              <a:pathLst>
                <a:path w="842661" h="400207">
                  <a:moveTo>
                    <a:pt x="95242" y="0"/>
                  </a:moveTo>
                  <a:lnTo>
                    <a:pt x="747419" y="0"/>
                  </a:lnTo>
                  <a:cubicBezTo>
                    <a:pt x="800020" y="0"/>
                    <a:pt x="842661" y="42641"/>
                    <a:pt x="842661" y="95242"/>
                  </a:cubicBezTo>
                  <a:lnTo>
                    <a:pt x="842661" y="304965"/>
                  </a:lnTo>
                  <a:cubicBezTo>
                    <a:pt x="842661" y="330225"/>
                    <a:pt x="832627" y="354450"/>
                    <a:pt x="814765" y="372311"/>
                  </a:cubicBezTo>
                  <a:cubicBezTo>
                    <a:pt x="796904" y="390173"/>
                    <a:pt x="772679" y="400207"/>
                    <a:pt x="747419" y="400207"/>
                  </a:cubicBezTo>
                  <a:lnTo>
                    <a:pt x="95242" y="400207"/>
                  </a:lnTo>
                  <a:cubicBezTo>
                    <a:pt x="69982" y="400207"/>
                    <a:pt x="45757" y="390173"/>
                    <a:pt x="27896" y="372311"/>
                  </a:cubicBezTo>
                  <a:cubicBezTo>
                    <a:pt x="10034" y="354450"/>
                    <a:pt x="0" y="330225"/>
                    <a:pt x="0" y="304965"/>
                  </a:cubicBezTo>
                  <a:lnTo>
                    <a:pt x="0" y="95242"/>
                  </a:lnTo>
                  <a:cubicBezTo>
                    <a:pt x="0" y="69982"/>
                    <a:pt x="10034" y="45757"/>
                    <a:pt x="27896" y="27896"/>
                  </a:cubicBezTo>
                  <a:cubicBezTo>
                    <a:pt x="45757" y="10034"/>
                    <a:pt x="69982" y="0"/>
                    <a:pt x="95242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842661" cy="371632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23072" y="3158187"/>
            <a:ext cx="2391766" cy="97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5"/>
              </a:lnSpc>
            </a:pPr>
            <a:r>
              <a:rPr lang="en-US" sz="2045" spc="8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Becomes Your Medication Buddy</a:t>
            </a:r>
            <a:endParaRPr lang="en-US" sz="2045" spc="85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821399" y="3000300"/>
            <a:ext cx="2876106" cy="1389808"/>
            <a:chOff x="0" y="0"/>
            <a:chExt cx="828199" cy="4002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8199" cy="400207"/>
            </a:xfrm>
            <a:custGeom>
              <a:avLst/>
              <a:gdLst/>
              <a:ahLst/>
              <a:cxnLst/>
              <a:rect l="l" t="t" r="r" b="b"/>
              <a:pathLst>
                <a:path w="828199" h="400207">
                  <a:moveTo>
                    <a:pt x="96905" y="0"/>
                  </a:moveTo>
                  <a:lnTo>
                    <a:pt x="731294" y="0"/>
                  </a:lnTo>
                  <a:cubicBezTo>
                    <a:pt x="784813" y="0"/>
                    <a:pt x="828199" y="43386"/>
                    <a:pt x="828199" y="96905"/>
                  </a:cubicBezTo>
                  <a:lnTo>
                    <a:pt x="828199" y="303302"/>
                  </a:lnTo>
                  <a:cubicBezTo>
                    <a:pt x="828199" y="329003"/>
                    <a:pt x="817990" y="353651"/>
                    <a:pt x="799816" y="371824"/>
                  </a:cubicBezTo>
                  <a:cubicBezTo>
                    <a:pt x="781643" y="389998"/>
                    <a:pt x="756995" y="400207"/>
                    <a:pt x="731294" y="400207"/>
                  </a:cubicBezTo>
                  <a:lnTo>
                    <a:pt x="96905" y="400207"/>
                  </a:lnTo>
                  <a:cubicBezTo>
                    <a:pt x="71204" y="400207"/>
                    <a:pt x="46556" y="389998"/>
                    <a:pt x="28383" y="371824"/>
                  </a:cubicBezTo>
                  <a:cubicBezTo>
                    <a:pt x="10210" y="353651"/>
                    <a:pt x="0" y="329003"/>
                    <a:pt x="0" y="303302"/>
                  </a:cubicBezTo>
                  <a:lnTo>
                    <a:pt x="0" y="96905"/>
                  </a:lnTo>
                  <a:cubicBezTo>
                    <a:pt x="0" y="71204"/>
                    <a:pt x="10210" y="46556"/>
                    <a:pt x="28383" y="28383"/>
                  </a:cubicBezTo>
                  <a:cubicBezTo>
                    <a:pt x="46556" y="10210"/>
                    <a:pt x="71204" y="0"/>
                    <a:pt x="96905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828199" cy="371632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 rot="-8261122">
            <a:off x="3185750" y="4655500"/>
            <a:ext cx="956763" cy="434911"/>
          </a:xfrm>
          <a:custGeom>
            <a:avLst/>
            <a:gdLst/>
            <a:ahLst/>
            <a:cxnLst/>
            <a:rect l="l" t="t" r="r" b="b"/>
            <a:pathLst>
              <a:path w="956763" h="434911">
                <a:moveTo>
                  <a:pt x="0" y="0"/>
                </a:moveTo>
                <a:lnTo>
                  <a:pt x="956763" y="0"/>
                </a:lnTo>
                <a:lnTo>
                  <a:pt x="956763" y="434911"/>
                </a:lnTo>
                <a:lnTo>
                  <a:pt x="0" y="4349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2638600">
            <a:off x="8465136" y="-20857"/>
            <a:ext cx="1206893" cy="1099370"/>
          </a:xfrm>
          <a:custGeom>
            <a:avLst/>
            <a:gdLst/>
            <a:ahLst/>
            <a:cxnLst/>
            <a:rect l="l" t="t" r="r" b="b"/>
            <a:pathLst>
              <a:path w="1206893" h="1099370">
                <a:moveTo>
                  <a:pt x="0" y="0"/>
                </a:moveTo>
                <a:lnTo>
                  <a:pt x="1206893" y="0"/>
                </a:lnTo>
                <a:lnTo>
                  <a:pt x="1206893" y="1099370"/>
                </a:lnTo>
                <a:lnTo>
                  <a:pt x="0" y="1099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7790319">
            <a:off x="3725241" y="2869765"/>
            <a:ext cx="1307544" cy="595894"/>
          </a:xfrm>
          <a:custGeom>
            <a:avLst/>
            <a:gdLst/>
            <a:ahLst/>
            <a:cxnLst/>
            <a:rect l="l" t="t" r="r" b="b"/>
            <a:pathLst>
              <a:path w="1307544" h="595894">
                <a:moveTo>
                  <a:pt x="0" y="0"/>
                </a:moveTo>
                <a:lnTo>
                  <a:pt x="1307544" y="0"/>
                </a:lnTo>
                <a:lnTo>
                  <a:pt x="1307544" y="595894"/>
                </a:lnTo>
                <a:lnTo>
                  <a:pt x="0" y="59589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4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966384">
            <a:off x="14283040" y="4620022"/>
            <a:ext cx="1345939" cy="611817"/>
          </a:xfrm>
          <a:custGeom>
            <a:avLst/>
            <a:gdLst/>
            <a:ahLst/>
            <a:cxnLst/>
            <a:rect l="l" t="t" r="r" b="b"/>
            <a:pathLst>
              <a:path w="1345939" h="611817">
                <a:moveTo>
                  <a:pt x="0" y="0"/>
                </a:moveTo>
                <a:lnTo>
                  <a:pt x="1345939" y="0"/>
                </a:lnTo>
                <a:lnTo>
                  <a:pt x="1345939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2700000">
            <a:off x="13178393" y="2984796"/>
            <a:ext cx="1307544" cy="595894"/>
          </a:xfrm>
          <a:custGeom>
            <a:avLst/>
            <a:gdLst/>
            <a:ahLst/>
            <a:cxnLst/>
            <a:rect l="l" t="t" r="r" b="b"/>
            <a:pathLst>
              <a:path w="1307544" h="595894">
                <a:moveTo>
                  <a:pt x="0" y="0"/>
                </a:moveTo>
                <a:lnTo>
                  <a:pt x="1307544" y="0"/>
                </a:lnTo>
                <a:lnTo>
                  <a:pt x="1307544" y="595893"/>
                </a:lnTo>
                <a:lnTo>
                  <a:pt x="0" y="5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4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2832155">
            <a:off x="9287896" y="4670333"/>
            <a:ext cx="1307544" cy="595894"/>
          </a:xfrm>
          <a:custGeom>
            <a:avLst/>
            <a:gdLst/>
            <a:ahLst/>
            <a:cxnLst/>
            <a:rect l="l" t="t" r="r" b="b"/>
            <a:pathLst>
              <a:path w="1307544" h="595894">
                <a:moveTo>
                  <a:pt x="0" y="0"/>
                </a:moveTo>
                <a:lnTo>
                  <a:pt x="1307544" y="0"/>
                </a:lnTo>
                <a:lnTo>
                  <a:pt x="1307544" y="595893"/>
                </a:lnTo>
                <a:lnTo>
                  <a:pt x="0" y="5958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4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-7162041">
            <a:off x="7776942" y="4688265"/>
            <a:ext cx="1307544" cy="595894"/>
          </a:xfrm>
          <a:custGeom>
            <a:avLst/>
            <a:gdLst/>
            <a:ahLst/>
            <a:cxnLst/>
            <a:rect l="l" t="t" r="r" b="b"/>
            <a:pathLst>
              <a:path w="1307544" h="595894">
                <a:moveTo>
                  <a:pt x="0" y="0"/>
                </a:moveTo>
                <a:lnTo>
                  <a:pt x="1307545" y="0"/>
                </a:lnTo>
                <a:lnTo>
                  <a:pt x="1307545" y="595894"/>
                </a:lnTo>
                <a:lnTo>
                  <a:pt x="0" y="59589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4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-9429747">
            <a:off x="6897883" y="6095894"/>
            <a:ext cx="1345939" cy="611817"/>
          </a:xfrm>
          <a:custGeom>
            <a:avLst/>
            <a:gdLst/>
            <a:ahLst/>
            <a:cxnLst/>
            <a:rect l="l" t="t" r="r" b="b"/>
            <a:pathLst>
              <a:path w="1345939" h="611817">
                <a:moveTo>
                  <a:pt x="0" y="0"/>
                </a:moveTo>
                <a:lnTo>
                  <a:pt x="1345939" y="0"/>
                </a:lnTo>
                <a:lnTo>
                  <a:pt x="1345939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-1280109">
            <a:off x="10088975" y="5705201"/>
            <a:ext cx="1345939" cy="611817"/>
          </a:xfrm>
          <a:custGeom>
            <a:avLst/>
            <a:gdLst/>
            <a:ahLst/>
            <a:cxnLst/>
            <a:rect l="l" t="t" r="r" b="b"/>
            <a:pathLst>
              <a:path w="1345939" h="611817">
                <a:moveTo>
                  <a:pt x="0" y="0"/>
                </a:moveTo>
                <a:lnTo>
                  <a:pt x="1345939" y="0"/>
                </a:lnTo>
                <a:lnTo>
                  <a:pt x="1345939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388645" y="5650419"/>
            <a:ext cx="2434428" cy="4463117"/>
          </a:xfrm>
          <a:custGeom>
            <a:avLst/>
            <a:gdLst/>
            <a:ahLst/>
            <a:cxnLst/>
            <a:rect l="l" t="t" r="r" b="b"/>
            <a:pathLst>
              <a:path w="2434428" h="4463117">
                <a:moveTo>
                  <a:pt x="0" y="0"/>
                </a:moveTo>
                <a:lnTo>
                  <a:pt x="2434427" y="0"/>
                </a:lnTo>
                <a:lnTo>
                  <a:pt x="2434427" y="4463117"/>
                </a:lnTo>
                <a:lnTo>
                  <a:pt x="0" y="4463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1492967" y="4700493"/>
            <a:ext cx="2763006" cy="1310617"/>
            <a:chOff x="0" y="0"/>
            <a:chExt cx="795631" cy="3774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5631" cy="377403"/>
            </a:xfrm>
            <a:custGeom>
              <a:avLst/>
              <a:gdLst/>
              <a:ahLst/>
              <a:cxnLst/>
              <a:rect l="l" t="t" r="r" b="b"/>
              <a:pathLst>
                <a:path w="795631" h="377403">
                  <a:moveTo>
                    <a:pt x="100872" y="0"/>
                  </a:moveTo>
                  <a:lnTo>
                    <a:pt x="694759" y="0"/>
                  </a:lnTo>
                  <a:cubicBezTo>
                    <a:pt x="750469" y="0"/>
                    <a:pt x="795631" y="45162"/>
                    <a:pt x="795631" y="100872"/>
                  </a:cubicBezTo>
                  <a:lnTo>
                    <a:pt x="795631" y="276532"/>
                  </a:lnTo>
                  <a:cubicBezTo>
                    <a:pt x="795631" y="303284"/>
                    <a:pt x="785004" y="328941"/>
                    <a:pt x="766087" y="347859"/>
                  </a:cubicBezTo>
                  <a:cubicBezTo>
                    <a:pt x="747169" y="366776"/>
                    <a:pt x="721512" y="377403"/>
                    <a:pt x="694759" y="377403"/>
                  </a:cubicBezTo>
                  <a:lnTo>
                    <a:pt x="100872" y="377403"/>
                  </a:lnTo>
                  <a:cubicBezTo>
                    <a:pt x="74119" y="377403"/>
                    <a:pt x="48462" y="366776"/>
                    <a:pt x="29545" y="347859"/>
                  </a:cubicBezTo>
                  <a:cubicBezTo>
                    <a:pt x="10628" y="328941"/>
                    <a:pt x="0" y="303284"/>
                    <a:pt x="0" y="276532"/>
                  </a:cubicBezTo>
                  <a:lnTo>
                    <a:pt x="0" y="100872"/>
                  </a:lnTo>
                  <a:cubicBezTo>
                    <a:pt x="0" y="74119"/>
                    <a:pt x="10628" y="48462"/>
                    <a:pt x="29545" y="29545"/>
                  </a:cubicBezTo>
                  <a:cubicBezTo>
                    <a:pt x="48462" y="10628"/>
                    <a:pt x="74119" y="0"/>
                    <a:pt x="100872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795631" cy="34882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655849" y="4829407"/>
            <a:ext cx="2400927" cy="1053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2200" spc="9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Always knows your heart</a:t>
            </a:r>
            <a:endParaRPr lang="en-US" sz="2200" spc="92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235306" y="3215840"/>
            <a:ext cx="2048291" cy="94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0"/>
              </a:lnSpc>
            </a:pPr>
            <a:r>
              <a:rPr lang="en-US" sz="1985" spc="8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Becomes Your Companion</a:t>
            </a:r>
            <a:endParaRPr lang="en-US" sz="1985" spc="83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4164266" y="4797323"/>
            <a:ext cx="2854492" cy="1389808"/>
            <a:chOff x="0" y="0"/>
            <a:chExt cx="3805989" cy="1853078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3805989" cy="1853078"/>
              <a:chOff x="0" y="0"/>
              <a:chExt cx="821975" cy="40020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21975" cy="400207"/>
              </a:xfrm>
              <a:custGeom>
                <a:avLst/>
                <a:gdLst/>
                <a:ahLst/>
                <a:cxnLst/>
                <a:rect l="l" t="t" r="r" b="b"/>
                <a:pathLst>
                  <a:path w="821975" h="400207">
                    <a:moveTo>
                      <a:pt x="97639" y="0"/>
                    </a:moveTo>
                    <a:lnTo>
                      <a:pt x="724336" y="0"/>
                    </a:lnTo>
                    <a:cubicBezTo>
                      <a:pt x="750232" y="0"/>
                      <a:pt x="775067" y="10287"/>
                      <a:pt x="793377" y="28598"/>
                    </a:cubicBezTo>
                    <a:cubicBezTo>
                      <a:pt x="811688" y="46909"/>
                      <a:pt x="821975" y="71743"/>
                      <a:pt x="821975" y="97639"/>
                    </a:cubicBezTo>
                    <a:lnTo>
                      <a:pt x="821975" y="302568"/>
                    </a:lnTo>
                    <a:cubicBezTo>
                      <a:pt x="821975" y="356493"/>
                      <a:pt x="778261" y="400207"/>
                      <a:pt x="724336" y="400207"/>
                    </a:cubicBezTo>
                    <a:lnTo>
                      <a:pt x="97639" y="400207"/>
                    </a:lnTo>
                    <a:cubicBezTo>
                      <a:pt x="43714" y="400207"/>
                      <a:pt x="0" y="356493"/>
                      <a:pt x="0" y="302568"/>
                    </a:cubicBezTo>
                    <a:lnTo>
                      <a:pt x="0" y="97639"/>
                    </a:lnTo>
                    <a:cubicBezTo>
                      <a:pt x="0" y="43714"/>
                      <a:pt x="43714" y="0"/>
                      <a:pt x="97639" y="0"/>
                    </a:cubicBezTo>
                    <a:close/>
                  </a:path>
                </a:pathLst>
              </a:custGeom>
              <a:solidFill>
                <a:srgbClr val="E6BFE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28575"/>
                <a:ext cx="821975" cy="371632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02697" y="349440"/>
              <a:ext cx="3400594" cy="1137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05"/>
                </a:lnSpc>
              </a:pPr>
              <a:r>
                <a:rPr lang="en-US" sz="1800" spc="75">
                  <a:solidFill>
                    <a:srgbClr val="000000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Always with you during emergencies</a:t>
              </a:r>
              <a:endParaRPr lang="en-US" sz="1800" spc="7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40358" y="2184960"/>
            <a:ext cx="3350313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5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Always with you when you need it</a:t>
            </a:r>
            <a:endParaRPr lang="en-US" sz="25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28700" y="3585206"/>
            <a:ext cx="2885779" cy="80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5"/>
              </a:lnSpc>
            </a:pPr>
            <a:r>
              <a:rPr lang="en-US" sz="277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Detects falls and alerts caregivers with location.</a:t>
            </a:r>
            <a:endParaRPr lang="en-US" sz="277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255973" y="1661241"/>
            <a:ext cx="300332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445" dirty="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Improves medication adherence through timed visual + buzzer.</a:t>
            </a:r>
            <a:endParaRPr lang="en-US" sz="2445" dirty="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5410007" y="3550488"/>
            <a:ext cx="2850429" cy="75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63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Monitors vital signs and provides quick feedback.</a:t>
            </a:r>
            <a:endParaRPr lang="en-US" sz="263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34" name="Freeform 34"/>
          <p:cNvSpPr/>
          <p:nvPr/>
        </p:nvSpPr>
        <p:spPr>
          <a:xfrm rot="10629055">
            <a:off x="6610628" y="7437143"/>
            <a:ext cx="1345939" cy="611817"/>
          </a:xfrm>
          <a:custGeom>
            <a:avLst/>
            <a:gdLst/>
            <a:ahLst/>
            <a:cxnLst/>
            <a:rect l="l" t="t" r="r" b="b"/>
            <a:pathLst>
              <a:path w="1345939" h="611817">
                <a:moveTo>
                  <a:pt x="0" y="0"/>
                </a:moveTo>
                <a:lnTo>
                  <a:pt x="1345939" y="0"/>
                </a:lnTo>
                <a:lnTo>
                  <a:pt x="1345939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3664131" y="7048147"/>
            <a:ext cx="2876106" cy="1389808"/>
            <a:chOff x="0" y="0"/>
            <a:chExt cx="828199" cy="4002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8199" cy="400207"/>
            </a:xfrm>
            <a:custGeom>
              <a:avLst/>
              <a:gdLst/>
              <a:ahLst/>
              <a:cxnLst/>
              <a:rect l="l" t="t" r="r" b="b"/>
              <a:pathLst>
                <a:path w="828199" h="400207">
                  <a:moveTo>
                    <a:pt x="96905" y="0"/>
                  </a:moveTo>
                  <a:lnTo>
                    <a:pt x="731294" y="0"/>
                  </a:lnTo>
                  <a:cubicBezTo>
                    <a:pt x="784813" y="0"/>
                    <a:pt x="828199" y="43386"/>
                    <a:pt x="828199" y="96905"/>
                  </a:cubicBezTo>
                  <a:lnTo>
                    <a:pt x="828199" y="303302"/>
                  </a:lnTo>
                  <a:cubicBezTo>
                    <a:pt x="828199" y="329003"/>
                    <a:pt x="817990" y="353651"/>
                    <a:pt x="799816" y="371824"/>
                  </a:cubicBezTo>
                  <a:cubicBezTo>
                    <a:pt x="781643" y="389998"/>
                    <a:pt x="756995" y="400207"/>
                    <a:pt x="731294" y="400207"/>
                  </a:cubicBezTo>
                  <a:lnTo>
                    <a:pt x="96905" y="400207"/>
                  </a:lnTo>
                  <a:cubicBezTo>
                    <a:pt x="71204" y="400207"/>
                    <a:pt x="46556" y="389998"/>
                    <a:pt x="28383" y="371824"/>
                  </a:cubicBezTo>
                  <a:cubicBezTo>
                    <a:pt x="10210" y="353651"/>
                    <a:pt x="0" y="329003"/>
                    <a:pt x="0" y="303302"/>
                  </a:cubicBezTo>
                  <a:lnTo>
                    <a:pt x="0" y="96905"/>
                  </a:lnTo>
                  <a:cubicBezTo>
                    <a:pt x="0" y="71204"/>
                    <a:pt x="10210" y="46556"/>
                    <a:pt x="28383" y="28383"/>
                  </a:cubicBezTo>
                  <a:cubicBezTo>
                    <a:pt x="46556" y="10210"/>
                    <a:pt x="71204" y="0"/>
                    <a:pt x="96905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8575"/>
              <a:ext cx="828199" cy="371632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128864" y="7263687"/>
            <a:ext cx="2048291" cy="94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0"/>
              </a:lnSpc>
            </a:pPr>
            <a:r>
              <a:rPr lang="en-US" sz="1985" spc="8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An immediate alert system.</a:t>
            </a:r>
            <a:endParaRPr lang="en-US" sz="1985" spc="83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39" name="Freeform 39"/>
          <p:cNvSpPr/>
          <p:nvPr/>
        </p:nvSpPr>
        <p:spPr>
          <a:xfrm rot="-8299403">
            <a:off x="2603224" y="6830691"/>
            <a:ext cx="956763" cy="434911"/>
          </a:xfrm>
          <a:custGeom>
            <a:avLst/>
            <a:gdLst/>
            <a:ahLst/>
            <a:cxnLst/>
            <a:rect l="l" t="t" r="r" b="b"/>
            <a:pathLst>
              <a:path w="956763" h="434911">
                <a:moveTo>
                  <a:pt x="0" y="0"/>
                </a:moveTo>
                <a:lnTo>
                  <a:pt x="956763" y="0"/>
                </a:lnTo>
                <a:lnTo>
                  <a:pt x="956763" y="434911"/>
                </a:lnTo>
                <a:lnTo>
                  <a:pt x="0" y="4349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521988" y="5789442"/>
            <a:ext cx="2885779" cy="80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5"/>
              </a:lnSpc>
            </a:pPr>
            <a:r>
              <a:rPr lang="en-US" sz="277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Automatically alerts designated caregivers.</a:t>
            </a:r>
            <a:endParaRPr lang="en-US" sz="277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41" name="Freeform 41"/>
          <p:cNvSpPr/>
          <p:nvPr/>
        </p:nvSpPr>
        <p:spPr>
          <a:xfrm rot="-563216">
            <a:off x="10596674" y="7050588"/>
            <a:ext cx="1345939" cy="611817"/>
          </a:xfrm>
          <a:custGeom>
            <a:avLst/>
            <a:gdLst/>
            <a:ahLst/>
            <a:cxnLst/>
            <a:rect l="l" t="t" r="r" b="b"/>
            <a:pathLst>
              <a:path w="1345939" h="611817">
                <a:moveTo>
                  <a:pt x="0" y="0"/>
                </a:moveTo>
                <a:lnTo>
                  <a:pt x="1345939" y="0"/>
                </a:lnTo>
                <a:lnTo>
                  <a:pt x="1345939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2" name="Group 42"/>
          <p:cNvGrpSpPr/>
          <p:nvPr/>
        </p:nvGrpSpPr>
        <p:grpSpPr>
          <a:xfrm>
            <a:off x="12100616" y="6567639"/>
            <a:ext cx="2763006" cy="1310617"/>
            <a:chOff x="0" y="0"/>
            <a:chExt cx="795631" cy="3774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95631" cy="377403"/>
            </a:xfrm>
            <a:custGeom>
              <a:avLst/>
              <a:gdLst/>
              <a:ahLst/>
              <a:cxnLst/>
              <a:rect l="l" t="t" r="r" b="b"/>
              <a:pathLst>
                <a:path w="795631" h="377403">
                  <a:moveTo>
                    <a:pt x="100872" y="0"/>
                  </a:moveTo>
                  <a:lnTo>
                    <a:pt x="694759" y="0"/>
                  </a:lnTo>
                  <a:cubicBezTo>
                    <a:pt x="750469" y="0"/>
                    <a:pt x="795631" y="45162"/>
                    <a:pt x="795631" y="100872"/>
                  </a:cubicBezTo>
                  <a:lnTo>
                    <a:pt x="795631" y="276532"/>
                  </a:lnTo>
                  <a:cubicBezTo>
                    <a:pt x="795631" y="303284"/>
                    <a:pt x="785004" y="328941"/>
                    <a:pt x="766087" y="347859"/>
                  </a:cubicBezTo>
                  <a:cubicBezTo>
                    <a:pt x="747169" y="366776"/>
                    <a:pt x="721512" y="377403"/>
                    <a:pt x="694759" y="377403"/>
                  </a:cubicBezTo>
                  <a:lnTo>
                    <a:pt x="100872" y="377403"/>
                  </a:lnTo>
                  <a:cubicBezTo>
                    <a:pt x="74119" y="377403"/>
                    <a:pt x="48462" y="366776"/>
                    <a:pt x="29545" y="347859"/>
                  </a:cubicBezTo>
                  <a:cubicBezTo>
                    <a:pt x="10628" y="328941"/>
                    <a:pt x="0" y="303284"/>
                    <a:pt x="0" y="276532"/>
                  </a:cubicBezTo>
                  <a:lnTo>
                    <a:pt x="0" y="100872"/>
                  </a:lnTo>
                  <a:cubicBezTo>
                    <a:pt x="0" y="74119"/>
                    <a:pt x="10628" y="48462"/>
                    <a:pt x="29545" y="29545"/>
                  </a:cubicBezTo>
                  <a:cubicBezTo>
                    <a:pt x="48462" y="10628"/>
                    <a:pt x="74119" y="0"/>
                    <a:pt x="100872" y="0"/>
                  </a:cubicBezTo>
                  <a:close/>
                </a:path>
              </a:pathLst>
            </a:custGeom>
            <a:solidFill>
              <a:srgbClr val="E6BF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28575"/>
              <a:ext cx="795631" cy="348828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281656" y="6689078"/>
            <a:ext cx="2400927" cy="1053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2200" spc="9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Monitored through an app</a:t>
            </a:r>
            <a:endParaRPr lang="en-US" sz="2200" spc="92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5834086" y="5556956"/>
            <a:ext cx="2850429" cy="112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63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Tracks progress and notifies caretakers</a:t>
            </a:r>
            <a:endParaRPr lang="en-US" sz="263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  <a:p>
            <a:pPr algn="l">
              <a:lnSpc>
                <a:spcPts val="3005"/>
              </a:lnSpc>
            </a:pPr>
            <a:endParaRPr lang="en-US" sz="263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47" name="Freeform 47"/>
          <p:cNvSpPr/>
          <p:nvPr/>
        </p:nvSpPr>
        <p:spPr>
          <a:xfrm rot="-1966384">
            <a:off x="14805765" y="6321834"/>
            <a:ext cx="1081496" cy="491611"/>
          </a:xfrm>
          <a:custGeom>
            <a:avLst/>
            <a:gdLst/>
            <a:ahLst/>
            <a:cxnLst/>
            <a:rect l="l" t="t" r="r" b="b"/>
            <a:pathLst>
              <a:path w="1081496" h="491611">
                <a:moveTo>
                  <a:pt x="0" y="0"/>
                </a:moveTo>
                <a:lnTo>
                  <a:pt x="1081496" y="0"/>
                </a:lnTo>
                <a:lnTo>
                  <a:pt x="1081496" y="491611"/>
                </a:lnTo>
                <a:lnTo>
                  <a:pt x="0" y="4916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4350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146330" y="-145721"/>
            <a:ext cx="13290330" cy="1836482"/>
          </a:xfrm>
          <a:custGeom>
            <a:avLst/>
            <a:gdLst/>
            <a:ahLst/>
            <a:cxnLst/>
            <a:rect l="l" t="t" r="r" b="b"/>
            <a:pathLst>
              <a:path w="13290330" h="1836482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8209465" y="8823812"/>
            <a:ext cx="13290330" cy="1836482"/>
          </a:xfrm>
          <a:custGeom>
            <a:avLst/>
            <a:gdLst/>
            <a:ahLst/>
            <a:cxnLst/>
            <a:rect l="l" t="t" r="r" b="b"/>
            <a:pathLst>
              <a:path w="13290330" h="1836482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219828"/>
            <a:ext cx="15904482" cy="7847344"/>
            <a:chOff x="0" y="0"/>
            <a:chExt cx="21665986" cy="10690097"/>
          </a:xfrm>
        </p:grpSpPr>
        <p:sp>
          <p:nvSpPr>
            <p:cNvPr id="5" name="Freeform 5"/>
            <p:cNvSpPr/>
            <p:nvPr/>
          </p:nvSpPr>
          <p:spPr>
            <a:xfrm>
              <a:off x="31750" y="31750"/>
              <a:ext cx="21602486" cy="10626596"/>
            </a:xfrm>
            <a:custGeom>
              <a:avLst/>
              <a:gdLst/>
              <a:ahLst/>
              <a:cxnLst/>
              <a:rect l="l" t="t" r="r" b="b"/>
              <a:pathLst>
                <a:path w="21602486" h="10626596">
                  <a:moveTo>
                    <a:pt x="21509775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1508506" y="0"/>
                  </a:lnTo>
                  <a:cubicBezTo>
                    <a:pt x="21559306" y="0"/>
                    <a:pt x="21601216" y="41910"/>
                    <a:pt x="21601216" y="92710"/>
                  </a:cubicBezTo>
                  <a:lnTo>
                    <a:pt x="21601216" y="10532617"/>
                  </a:lnTo>
                  <a:cubicBezTo>
                    <a:pt x="21602486" y="10584686"/>
                    <a:pt x="21560575" y="10626596"/>
                    <a:pt x="21509775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21665986" cy="10690096"/>
            </a:xfrm>
            <a:custGeom>
              <a:avLst/>
              <a:gdLst/>
              <a:ahLst/>
              <a:cxnLst/>
              <a:rect l="l" t="t" r="r" b="b"/>
              <a:pathLst>
                <a:path w="21665986" h="10690096">
                  <a:moveTo>
                    <a:pt x="21541525" y="59690"/>
                  </a:moveTo>
                  <a:cubicBezTo>
                    <a:pt x="21577086" y="59690"/>
                    <a:pt x="21606295" y="88900"/>
                    <a:pt x="21606295" y="124460"/>
                  </a:cubicBezTo>
                  <a:lnTo>
                    <a:pt x="21606295" y="10565636"/>
                  </a:lnTo>
                  <a:cubicBezTo>
                    <a:pt x="21606295" y="10601196"/>
                    <a:pt x="21577086" y="10630406"/>
                    <a:pt x="21541525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1541525" y="59690"/>
                  </a:lnTo>
                  <a:moveTo>
                    <a:pt x="2154152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21541525" y="10690096"/>
                  </a:lnTo>
                  <a:cubicBezTo>
                    <a:pt x="21610106" y="10690096"/>
                    <a:pt x="21665986" y="10634217"/>
                    <a:pt x="21665986" y="10565636"/>
                  </a:cubicBezTo>
                  <a:lnTo>
                    <a:pt x="21665986" y="124460"/>
                  </a:lnTo>
                  <a:cubicBezTo>
                    <a:pt x="21665986" y="55880"/>
                    <a:pt x="21610106" y="0"/>
                    <a:pt x="21541525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1028700" y="2314017"/>
            <a:ext cx="159044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3995677">
            <a:off x="-81553" y="7220088"/>
            <a:ext cx="2983210" cy="2891002"/>
          </a:xfrm>
          <a:custGeom>
            <a:avLst/>
            <a:gdLst/>
            <a:ahLst/>
            <a:cxnLst/>
            <a:rect l="l" t="t" r="r" b="b"/>
            <a:pathLst>
              <a:path w="2983210" h="2891002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84312" y="2673720"/>
            <a:ext cx="4450818" cy="4966045"/>
          </a:xfrm>
          <a:custGeom>
            <a:avLst/>
            <a:gdLst/>
            <a:ahLst/>
            <a:cxnLst/>
            <a:rect l="l" t="t" r="r" b="b"/>
            <a:pathLst>
              <a:path w="4450818" h="4966045">
                <a:moveTo>
                  <a:pt x="0" y="0"/>
                </a:moveTo>
                <a:lnTo>
                  <a:pt x="4450819" y="0"/>
                </a:lnTo>
                <a:lnTo>
                  <a:pt x="4450819" y="4966046"/>
                </a:lnTo>
                <a:lnTo>
                  <a:pt x="0" y="49660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291669">
            <a:off x="1216453" y="3634911"/>
            <a:ext cx="785003" cy="715066"/>
          </a:xfrm>
          <a:custGeom>
            <a:avLst/>
            <a:gdLst/>
            <a:ahLst/>
            <a:cxnLst/>
            <a:rect l="l" t="t" r="r" b="b"/>
            <a:pathLst>
              <a:path w="785003" h="715066">
                <a:moveTo>
                  <a:pt x="0" y="0"/>
                </a:moveTo>
                <a:lnTo>
                  <a:pt x="785003" y="0"/>
                </a:lnTo>
                <a:lnTo>
                  <a:pt x="785003" y="715066"/>
                </a:lnTo>
                <a:lnTo>
                  <a:pt x="0" y="715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3090" y="3423568"/>
            <a:ext cx="2353009" cy="4120726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6363756" y="2660477"/>
            <a:ext cx="4450818" cy="4966045"/>
          </a:xfrm>
          <a:custGeom>
            <a:avLst/>
            <a:gdLst/>
            <a:ahLst/>
            <a:cxnLst/>
            <a:rect l="l" t="t" r="r" b="b"/>
            <a:pathLst>
              <a:path w="4450818" h="4966045">
                <a:moveTo>
                  <a:pt x="0" y="0"/>
                </a:moveTo>
                <a:lnTo>
                  <a:pt x="4450818" y="0"/>
                </a:lnTo>
                <a:lnTo>
                  <a:pt x="4450818" y="4966046"/>
                </a:lnTo>
                <a:lnTo>
                  <a:pt x="0" y="49660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575286" y="3343662"/>
            <a:ext cx="1113149" cy="1113149"/>
          </a:xfrm>
          <a:custGeom>
            <a:avLst/>
            <a:gdLst/>
            <a:ahLst/>
            <a:cxnLst/>
            <a:rect l="l" t="t" r="r" b="b"/>
            <a:pathLst>
              <a:path w="1113149" h="1113149">
                <a:moveTo>
                  <a:pt x="0" y="0"/>
                </a:moveTo>
                <a:lnTo>
                  <a:pt x="1113149" y="0"/>
                </a:lnTo>
                <a:lnTo>
                  <a:pt x="1113149" y="1113149"/>
                </a:lnTo>
                <a:lnTo>
                  <a:pt x="0" y="11131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5400000">
            <a:off x="9383042" y="6206573"/>
            <a:ext cx="1586218" cy="1127134"/>
          </a:xfrm>
          <a:custGeom>
            <a:avLst/>
            <a:gdLst/>
            <a:ahLst/>
            <a:cxnLst/>
            <a:rect l="l" t="t" r="r" b="b"/>
            <a:pathLst>
              <a:path w="1586218" h="1127134">
                <a:moveTo>
                  <a:pt x="0" y="0"/>
                </a:moveTo>
                <a:lnTo>
                  <a:pt x="1586218" y="0"/>
                </a:lnTo>
                <a:lnTo>
                  <a:pt x="1586218" y="1127135"/>
                </a:lnTo>
                <a:lnTo>
                  <a:pt x="0" y="11271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4804" r="-144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595624" y="2660477"/>
            <a:ext cx="4450818" cy="4966045"/>
          </a:xfrm>
          <a:custGeom>
            <a:avLst/>
            <a:gdLst/>
            <a:ahLst/>
            <a:cxnLst/>
            <a:rect l="l" t="t" r="r" b="b"/>
            <a:pathLst>
              <a:path w="4450818" h="4966045">
                <a:moveTo>
                  <a:pt x="0" y="0"/>
                </a:moveTo>
                <a:lnTo>
                  <a:pt x="4450818" y="0"/>
                </a:lnTo>
                <a:lnTo>
                  <a:pt x="4450818" y="4966046"/>
                </a:lnTo>
                <a:lnTo>
                  <a:pt x="0" y="49660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931986" y="3677562"/>
            <a:ext cx="1613275" cy="1348949"/>
          </a:xfrm>
          <a:custGeom>
            <a:avLst/>
            <a:gdLst/>
            <a:ahLst/>
            <a:cxnLst/>
            <a:rect l="l" t="t" r="r" b="b"/>
            <a:pathLst>
              <a:path w="1613275" h="1348949">
                <a:moveTo>
                  <a:pt x="0" y="0"/>
                </a:moveTo>
                <a:lnTo>
                  <a:pt x="1613275" y="0"/>
                </a:lnTo>
                <a:lnTo>
                  <a:pt x="1613275" y="1348949"/>
                </a:lnTo>
                <a:lnTo>
                  <a:pt x="0" y="1348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021511" y="5026511"/>
            <a:ext cx="1966925" cy="2556212"/>
          </a:xfrm>
          <a:custGeom>
            <a:avLst/>
            <a:gdLst/>
            <a:ahLst/>
            <a:cxnLst/>
            <a:rect l="l" t="t" r="r" b="b"/>
            <a:pathLst>
              <a:path w="1966925" h="2556212">
                <a:moveTo>
                  <a:pt x="0" y="0"/>
                </a:moveTo>
                <a:lnTo>
                  <a:pt x="1966925" y="0"/>
                </a:lnTo>
                <a:lnTo>
                  <a:pt x="1966925" y="2556212"/>
                </a:lnTo>
                <a:lnTo>
                  <a:pt x="0" y="2556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r="-48238" b="-422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7688435" y="4211587"/>
            <a:ext cx="2129187" cy="2414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5"/>
              </a:lnSpc>
              <a:spcBef>
                <a:spcPct val="0"/>
              </a:spcBef>
            </a:pPr>
            <a:r>
              <a:rPr lang="en-US" sz="276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IMPROVED AI FOR PILL RECOGNITION (USE MORE DATASETS AND AUGMENTATION).</a:t>
            </a:r>
            <a:endParaRPr lang="en-US" sz="276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7772400" y="3086100"/>
            <a:ext cx="2743200" cy="4114800"/>
          </a:xfrm>
          <a:custGeom>
            <a:avLst/>
            <a:gdLst/>
            <a:ahLst/>
            <a:cxnLst/>
            <a:rect l="l" t="t" r="r" b="b"/>
            <a:pathLst>
              <a:path w="2743200" h="41148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860015" y="4274859"/>
            <a:ext cx="1908314" cy="226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3430">
                <a:solidFill>
                  <a:srgbClr val="231F2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Enhance our mobile apps for a better user experience</a:t>
            </a:r>
            <a:endParaRPr lang="en-US" sz="3430">
              <a:solidFill>
                <a:srgbClr val="231F2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10052" y="1547077"/>
            <a:ext cx="627838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FUTURE  UPGRADES</a:t>
            </a:r>
            <a:endParaRPr lang="en-US" sz="300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738624" y="3925769"/>
            <a:ext cx="1873283" cy="284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5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EXPREMELY PRECISE AND RELIABLE LOCATION TRACKING</a:t>
            </a:r>
            <a:endParaRPr lang="en-US" sz="325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0391" y="1314700"/>
            <a:ext cx="10498909" cy="7657600"/>
            <a:chOff x="0" y="0"/>
            <a:chExt cx="14302208" cy="10431615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14238708" cy="10368115"/>
            </a:xfrm>
            <a:custGeom>
              <a:avLst/>
              <a:gdLst/>
              <a:ahLst/>
              <a:cxnLst/>
              <a:rect l="l" t="t" r="r" b="b"/>
              <a:pathLst>
                <a:path w="14238708" h="10368115">
                  <a:moveTo>
                    <a:pt x="14145997" y="10368115"/>
                  </a:moveTo>
                  <a:lnTo>
                    <a:pt x="92710" y="10368115"/>
                  </a:lnTo>
                  <a:cubicBezTo>
                    <a:pt x="41910" y="10368115"/>
                    <a:pt x="0" y="10326205"/>
                    <a:pt x="0" y="1027540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144727" y="0"/>
                  </a:lnTo>
                  <a:cubicBezTo>
                    <a:pt x="14195527" y="0"/>
                    <a:pt x="14237438" y="41910"/>
                    <a:pt x="14237438" y="92710"/>
                  </a:cubicBezTo>
                  <a:lnTo>
                    <a:pt x="14237438" y="10274136"/>
                  </a:lnTo>
                  <a:cubicBezTo>
                    <a:pt x="14238708" y="10326205"/>
                    <a:pt x="14196797" y="10368115"/>
                    <a:pt x="14145997" y="10368115"/>
                  </a:cubicBezTo>
                  <a:close/>
                </a:path>
              </a:pathLst>
            </a:custGeom>
            <a:solidFill>
              <a:srgbClr val="FFFE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4302208" cy="10431616"/>
            </a:xfrm>
            <a:custGeom>
              <a:avLst/>
              <a:gdLst/>
              <a:ahLst/>
              <a:cxnLst/>
              <a:rect l="l" t="t" r="r" b="b"/>
              <a:pathLst>
                <a:path w="14302208" h="10431616">
                  <a:moveTo>
                    <a:pt x="14177747" y="59690"/>
                  </a:moveTo>
                  <a:cubicBezTo>
                    <a:pt x="14213308" y="59690"/>
                    <a:pt x="14242518" y="88900"/>
                    <a:pt x="14242518" y="124460"/>
                  </a:cubicBezTo>
                  <a:lnTo>
                    <a:pt x="14242518" y="10307155"/>
                  </a:lnTo>
                  <a:cubicBezTo>
                    <a:pt x="14242518" y="10342716"/>
                    <a:pt x="14213308" y="10371926"/>
                    <a:pt x="14177747" y="10371926"/>
                  </a:cubicBezTo>
                  <a:lnTo>
                    <a:pt x="124460" y="10371926"/>
                  </a:lnTo>
                  <a:cubicBezTo>
                    <a:pt x="88900" y="10371926"/>
                    <a:pt x="59690" y="10342716"/>
                    <a:pt x="59690" y="1030715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177749" y="59690"/>
                  </a:lnTo>
                  <a:moveTo>
                    <a:pt x="141777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07155"/>
                  </a:lnTo>
                  <a:cubicBezTo>
                    <a:pt x="0" y="10375736"/>
                    <a:pt x="55880" y="10431616"/>
                    <a:pt x="124460" y="10431616"/>
                  </a:cubicBezTo>
                  <a:lnTo>
                    <a:pt x="14177749" y="10431616"/>
                  </a:lnTo>
                  <a:cubicBezTo>
                    <a:pt x="14246327" y="10431616"/>
                    <a:pt x="14302208" y="10375736"/>
                    <a:pt x="14302208" y="10307155"/>
                  </a:cubicBezTo>
                  <a:lnTo>
                    <a:pt x="14302208" y="124460"/>
                  </a:lnTo>
                  <a:cubicBezTo>
                    <a:pt x="14302208" y="55880"/>
                    <a:pt x="14246327" y="0"/>
                    <a:pt x="14177749" y="0"/>
                  </a:cubicBez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-49133" y="364943"/>
            <a:ext cx="7628315" cy="9557115"/>
          </a:xfrm>
          <a:custGeom>
            <a:avLst/>
            <a:gdLst/>
            <a:ahLst/>
            <a:cxnLst/>
            <a:rect l="l" t="t" r="r" b="b"/>
            <a:pathLst>
              <a:path w="7628315" h="9557115">
                <a:moveTo>
                  <a:pt x="0" y="0"/>
                </a:moveTo>
                <a:lnTo>
                  <a:pt x="7628316" y="0"/>
                </a:lnTo>
                <a:lnTo>
                  <a:pt x="7628316" y="9557114"/>
                </a:lnTo>
                <a:lnTo>
                  <a:pt x="0" y="95571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568932">
            <a:off x="11353637" y="1410383"/>
            <a:ext cx="1144336" cy="1640625"/>
          </a:xfrm>
          <a:custGeom>
            <a:avLst/>
            <a:gdLst/>
            <a:ahLst/>
            <a:cxnLst/>
            <a:rect l="l" t="t" r="r" b="b"/>
            <a:pathLst>
              <a:path w="1144336" h="1640625">
                <a:moveTo>
                  <a:pt x="0" y="0"/>
                </a:moveTo>
                <a:lnTo>
                  <a:pt x="1144336" y="0"/>
                </a:lnTo>
                <a:lnTo>
                  <a:pt x="1144336" y="1640626"/>
                </a:lnTo>
                <a:lnTo>
                  <a:pt x="0" y="16406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027046">
            <a:off x="16282896" y="916013"/>
            <a:ext cx="1514128" cy="1379233"/>
          </a:xfrm>
          <a:custGeom>
            <a:avLst/>
            <a:gdLst/>
            <a:ahLst/>
            <a:cxnLst/>
            <a:rect l="l" t="t" r="r" b="b"/>
            <a:pathLst>
              <a:path w="1514128" h="1379233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409931">
            <a:off x="1186877" y="2148225"/>
            <a:ext cx="5506143" cy="7635931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>
            <a:off x="7799654" y="1732643"/>
            <a:ext cx="3053231" cy="3410857"/>
          </a:xfrm>
          <a:custGeom>
            <a:avLst/>
            <a:gdLst/>
            <a:ahLst/>
            <a:cxnLst/>
            <a:rect l="l" t="t" r="r" b="b"/>
            <a:pathLst>
              <a:path w="3053231" h="3410857">
                <a:moveTo>
                  <a:pt x="0" y="0"/>
                </a:moveTo>
                <a:lnTo>
                  <a:pt x="3053230" y="0"/>
                </a:lnTo>
                <a:lnTo>
                  <a:pt x="3053230" y="3410857"/>
                </a:lnTo>
                <a:lnTo>
                  <a:pt x="0" y="3410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02393" y="5176505"/>
            <a:ext cx="3281006" cy="3178475"/>
          </a:xfrm>
          <a:custGeom>
            <a:avLst/>
            <a:gdLst/>
            <a:ahLst/>
            <a:cxnLst/>
            <a:rect l="l" t="t" r="r" b="b"/>
            <a:pathLst>
              <a:path w="3281006" h="3178475">
                <a:moveTo>
                  <a:pt x="0" y="0"/>
                </a:moveTo>
                <a:lnTo>
                  <a:pt x="3281006" y="0"/>
                </a:lnTo>
                <a:lnTo>
                  <a:pt x="3281006" y="3178474"/>
                </a:lnTo>
                <a:lnTo>
                  <a:pt x="0" y="31784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 rot="-466770">
            <a:off x="1081132" y="1458744"/>
            <a:ext cx="4257247" cy="119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0"/>
              </a:lnSpc>
              <a:spcBef>
                <a:spcPct val="0"/>
              </a:spcBef>
            </a:pPr>
            <a:r>
              <a:rPr lang="en-US" sz="348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CARE COMPANION</a:t>
            </a:r>
            <a:endParaRPr lang="en-US" sz="348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380878" y="5517881"/>
            <a:ext cx="4194128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l">
              <a:lnSpc>
                <a:spcPts val="3640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MISSION</a:t>
            </a:r>
            <a:endParaRPr lang="en-US" sz="260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45832" y="2180181"/>
            <a:ext cx="4194128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l">
              <a:lnSpc>
                <a:spcPts val="3640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VISION</a:t>
            </a:r>
            <a:endParaRPr lang="en-US" sz="260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413232" y="2694741"/>
            <a:ext cx="3626729" cy="157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7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To create a world where aging with independence, dignity, and safety is supported by compassionate technology.</a:t>
            </a:r>
            <a:endParaRPr lang="en-US" sz="27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799654" y="6056120"/>
            <a:ext cx="3057709" cy="2298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5"/>
              </a:lnSpc>
              <a:spcBef>
                <a:spcPct val="0"/>
              </a:spcBef>
            </a:pPr>
            <a:r>
              <a:rPr lang="en-US" sz="2175" spc="91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TO EMPOWER OLDER ADULTS WITH A SAFE, RELIABLE, AND INTELLIGENT WALKING COMPANION THAT MONITORS HEALTH, DETECTS FALLS, AND ENSURES PEACE OF MIND FOR BOTH USERS AND THEIR LOVED ONES.</a:t>
            </a:r>
            <a:endParaRPr lang="en-US" sz="2175" spc="91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2707" y="1589776"/>
            <a:ext cx="9699658" cy="3103890"/>
          </a:xfrm>
          <a:custGeom>
            <a:avLst/>
            <a:gdLst/>
            <a:ahLst/>
            <a:cxnLst/>
            <a:rect l="l" t="t" r="r" b="b"/>
            <a:pathLst>
              <a:path w="9699658" h="3103890">
                <a:moveTo>
                  <a:pt x="0" y="0"/>
                </a:moveTo>
                <a:lnTo>
                  <a:pt x="9699657" y="0"/>
                </a:lnTo>
                <a:lnTo>
                  <a:pt x="9699657" y="3103891"/>
                </a:lnTo>
                <a:lnTo>
                  <a:pt x="0" y="31038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 rot="-166726">
            <a:off x="4816097" y="2647944"/>
            <a:ext cx="9365337" cy="938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5"/>
              </a:lnSpc>
              <a:spcBef>
                <a:spcPct val="0"/>
              </a:spcBef>
            </a:pPr>
            <a:r>
              <a:rPr lang="en-US" sz="5475" spc="21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CONCLUSIONS</a:t>
            </a:r>
            <a:endParaRPr lang="en-US" sz="5475" spc="213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63243" y="3355180"/>
            <a:ext cx="2537821" cy="1172012"/>
          </a:xfrm>
          <a:custGeom>
            <a:avLst/>
            <a:gdLst/>
            <a:ahLst/>
            <a:cxnLst/>
            <a:rect l="l" t="t" r="r" b="b"/>
            <a:pathLst>
              <a:path w="2537821" h="1172012">
                <a:moveTo>
                  <a:pt x="0" y="0"/>
                </a:moveTo>
                <a:lnTo>
                  <a:pt x="2537821" y="0"/>
                </a:lnTo>
                <a:lnTo>
                  <a:pt x="2537821" y="1172011"/>
                </a:lnTo>
                <a:lnTo>
                  <a:pt x="0" y="1172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491967">
            <a:off x="4392492" y="950145"/>
            <a:ext cx="2241878" cy="2042147"/>
          </a:xfrm>
          <a:custGeom>
            <a:avLst/>
            <a:gdLst/>
            <a:ahLst/>
            <a:cxnLst/>
            <a:rect l="l" t="t" r="r" b="b"/>
            <a:pathLst>
              <a:path w="2241878" h="2042147">
                <a:moveTo>
                  <a:pt x="0" y="0"/>
                </a:moveTo>
                <a:lnTo>
                  <a:pt x="2241878" y="0"/>
                </a:lnTo>
                <a:lnTo>
                  <a:pt x="2241878" y="2042147"/>
                </a:lnTo>
                <a:lnTo>
                  <a:pt x="0" y="2042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4706294" flipV="1">
            <a:off x="-1027691" y="-1038936"/>
            <a:ext cx="5209949" cy="5521140"/>
          </a:xfrm>
          <a:custGeom>
            <a:avLst/>
            <a:gdLst/>
            <a:ahLst/>
            <a:cxnLst/>
            <a:rect l="l" t="t" r="r" b="b"/>
            <a:pathLst>
              <a:path w="5209949" h="5521140">
                <a:moveTo>
                  <a:pt x="0" y="5521140"/>
                </a:moveTo>
                <a:lnTo>
                  <a:pt x="5209949" y="5521140"/>
                </a:lnTo>
                <a:lnTo>
                  <a:pt x="5209949" y="0"/>
                </a:lnTo>
                <a:lnTo>
                  <a:pt x="0" y="0"/>
                </a:lnTo>
                <a:lnTo>
                  <a:pt x="0" y="552114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568932">
            <a:off x="15725241" y="2538573"/>
            <a:ext cx="1447775" cy="2075662"/>
          </a:xfrm>
          <a:custGeom>
            <a:avLst/>
            <a:gdLst/>
            <a:ahLst/>
            <a:cxnLst/>
            <a:rect l="l" t="t" r="r" b="b"/>
            <a:pathLst>
              <a:path w="1447775" h="2075662">
                <a:moveTo>
                  <a:pt x="0" y="0"/>
                </a:moveTo>
                <a:lnTo>
                  <a:pt x="1447774" y="0"/>
                </a:lnTo>
                <a:lnTo>
                  <a:pt x="1447774" y="2075662"/>
                </a:lnTo>
                <a:lnTo>
                  <a:pt x="0" y="20756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538197" y="0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62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997274" y="4527191"/>
            <a:ext cx="4771263" cy="4771263"/>
          </a:xfrm>
          <a:custGeom>
            <a:avLst/>
            <a:gdLst/>
            <a:ahLst/>
            <a:cxnLst/>
            <a:rect l="l" t="t" r="r" b="b"/>
            <a:pathLst>
              <a:path w="4771263" h="4771263">
                <a:moveTo>
                  <a:pt x="0" y="0"/>
                </a:moveTo>
                <a:lnTo>
                  <a:pt x="4771263" y="0"/>
                </a:lnTo>
                <a:lnTo>
                  <a:pt x="4771263" y="4771263"/>
                </a:lnTo>
                <a:lnTo>
                  <a:pt x="0" y="4771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758368" y="4487037"/>
            <a:ext cx="4771263" cy="4771263"/>
          </a:xfrm>
          <a:custGeom>
            <a:avLst/>
            <a:gdLst/>
            <a:ahLst/>
            <a:cxnLst/>
            <a:rect l="l" t="t" r="r" b="b"/>
            <a:pathLst>
              <a:path w="4771263" h="4771263">
                <a:moveTo>
                  <a:pt x="0" y="0"/>
                </a:moveTo>
                <a:lnTo>
                  <a:pt x="4771264" y="0"/>
                </a:lnTo>
                <a:lnTo>
                  <a:pt x="4771264" y="4771263"/>
                </a:lnTo>
                <a:lnTo>
                  <a:pt x="0" y="4771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119625" y="6500877"/>
            <a:ext cx="3543618" cy="157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7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It provides peace of mind for both users and their families through smart tracking and health alerts.</a:t>
            </a:r>
            <a:endParaRPr lang="en-US" sz="27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372213" y="6296390"/>
            <a:ext cx="3700355" cy="23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0"/>
              </a:lnSpc>
            </a:pPr>
            <a:r>
              <a:rPr lang="en-US" sz="2815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The CareCompanion smart walking stick enhances safety and independence for older adults by monitoring vital signs and detecting falls in real time.</a:t>
            </a:r>
            <a:endParaRPr lang="en-US" sz="281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  <a:p>
            <a:pPr algn="just">
              <a:lnSpc>
                <a:spcPts val="3210"/>
              </a:lnSpc>
            </a:pPr>
            <a:endParaRPr lang="en-US" sz="2815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58368" y="5760467"/>
            <a:ext cx="4199874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 2</a:t>
            </a:r>
            <a:endParaRPr lang="en-US" sz="310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1882057" y="4487037"/>
            <a:ext cx="4771263" cy="4771263"/>
          </a:xfrm>
          <a:custGeom>
            <a:avLst/>
            <a:gdLst/>
            <a:ahLst/>
            <a:cxnLst/>
            <a:rect l="l" t="t" r="r" b="b"/>
            <a:pathLst>
              <a:path w="4771263" h="4771263">
                <a:moveTo>
                  <a:pt x="0" y="0"/>
                </a:moveTo>
                <a:lnTo>
                  <a:pt x="4771263" y="0"/>
                </a:lnTo>
                <a:lnTo>
                  <a:pt x="4771263" y="4771263"/>
                </a:lnTo>
                <a:lnTo>
                  <a:pt x="0" y="4771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965174" y="6903151"/>
            <a:ext cx="4588252" cy="4710297"/>
          </a:xfrm>
          <a:custGeom>
            <a:avLst/>
            <a:gdLst/>
            <a:ahLst/>
            <a:cxnLst/>
            <a:rect l="l" t="t" r="r" b="b"/>
            <a:pathLst>
              <a:path w="4588252" h="4710297">
                <a:moveTo>
                  <a:pt x="0" y="0"/>
                </a:moveTo>
                <a:lnTo>
                  <a:pt x="4588252" y="0"/>
                </a:lnTo>
                <a:lnTo>
                  <a:pt x="4588252" y="4710298"/>
                </a:lnTo>
                <a:lnTo>
                  <a:pt x="0" y="47102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2215432" y="6300852"/>
            <a:ext cx="3647663" cy="1963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5"/>
              </a:lnSpc>
            </a:pPr>
            <a:r>
              <a:rPr lang="en-US" sz="2700">
                <a:solidFill>
                  <a:srgbClr val="000000"/>
                </a:solidFill>
                <a:latin typeface="Handy Casual" panose="00000500000000000000"/>
                <a:ea typeface="Handy Casual" panose="00000500000000000000"/>
                <a:cs typeface="Handy Casual" panose="00000500000000000000"/>
                <a:sym typeface="Handy Casual" panose="00000500000000000000"/>
              </a:rPr>
              <a:t>By combining assistive mobility with intelligent health features, it represents a holistic solution for aging with dignity and confidence.</a:t>
            </a:r>
            <a:endParaRPr lang="en-US" sz="2700">
              <a:solidFill>
                <a:srgbClr val="000000"/>
              </a:solidFill>
              <a:latin typeface="Handy Casual" panose="00000500000000000000"/>
              <a:ea typeface="Handy Casual" panose="00000500000000000000"/>
              <a:cs typeface="Handy Casual" panose="00000500000000000000"/>
              <a:sym typeface="Handy Casual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932153" y="5504180"/>
            <a:ext cx="4199874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 3</a:t>
            </a:r>
            <a:endParaRPr lang="en-US" sz="310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997274" y="5736272"/>
            <a:ext cx="4199874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 1</a:t>
            </a:r>
            <a:endParaRPr lang="en-US" sz="310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10953240" y="8690836"/>
            <a:ext cx="13641432" cy="1884998"/>
          </a:xfrm>
          <a:custGeom>
            <a:avLst/>
            <a:gdLst/>
            <a:ahLst/>
            <a:cxnLst/>
            <a:rect l="l" t="t" r="r" b="b"/>
            <a:pathLst>
              <a:path w="13641432" h="1884998">
                <a:moveTo>
                  <a:pt x="13641432" y="0"/>
                </a:moveTo>
                <a:lnTo>
                  <a:pt x="0" y="0"/>
                </a:lnTo>
                <a:lnTo>
                  <a:pt x="0" y="1884998"/>
                </a:lnTo>
                <a:lnTo>
                  <a:pt x="13641432" y="1884998"/>
                </a:lnTo>
                <a:lnTo>
                  <a:pt x="13641432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691703">
            <a:off x="5963750" y="6592101"/>
            <a:ext cx="1707111" cy="1555022"/>
          </a:xfrm>
          <a:custGeom>
            <a:avLst/>
            <a:gdLst/>
            <a:ahLst/>
            <a:cxnLst/>
            <a:rect l="l" t="t" r="r" b="b"/>
            <a:pathLst>
              <a:path w="1707111" h="1555022">
                <a:moveTo>
                  <a:pt x="0" y="0"/>
                </a:moveTo>
                <a:lnTo>
                  <a:pt x="1707111" y="0"/>
                </a:lnTo>
                <a:lnTo>
                  <a:pt x="1707111" y="1555023"/>
                </a:lnTo>
                <a:lnTo>
                  <a:pt x="0" y="155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7104264" flipV="1">
            <a:off x="152632" y="3931750"/>
            <a:ext cx="3895386" cy="4128059"/>
          </a:xfrm>
          <a:custGeom>
            <a:avLst/>
            <a:gdLst/>
            <a:ahLst/>
            <a:cxnLst/>
            <a:rect l="l" t="t" r="r" b="b"/>
            <a:pathLst>
              <a:path w="3895386" h="4128059">
                <a:moveTo>
                  <a:pt x="0" y="4128059"/>
                </a:moveTo>
                <a:lnTo>
                  <a:pt x="3895387" y="4128059"/>
                </a:lnTo>
                <a:lnTo>
                  <a:pt x="3895387" y="0"/>
                </a:lnTo>
                <a:lnTo>
                  <a:pt x="0" y="0"/>
                </a:lnTo>
                <a:lnTo>
                  <a:pt x="0" y="412805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568932">
            <a:off x="12894609" y="960037"/>
            <a:ext cx="1480813" cy="2123030"/>
          </a:xfrm>
          <a:custGeom>
            <a:avLst/>
            <a:gdLst/>
            <a:ahLst/>
            <a:cxnLst/>
            <a:rect l="l" t="t" r="r" b="b"/>
            <a:pathLst>
              <a:path w="1480813" h="2123030">
                <a:moveTo>
                  <a:pt x="0" y="0"/>
                </a:moveTo>
                <a:lnTo>
                  <a:pt x="1480813" y="0"/>
                </a:lnTo>
                <a:lnTo>
                  <a:pt x="1480813" y="2123030"/>
                </a:lnTo>
                <a:lnTo>
                  <a:pt x="0" y="2123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55707" y="1726985"/>
            <a:ext cx="8376587" cy="5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0"/>
              </a:lnSpc>
            </a:pPr>
            <a:r>
              <a:rPr lang="en-US" sz="18505" spc="407">
                <a:solidFill>
                  <a:srgbClr val="000000"/>
                </a:solidFill>
                <a:latin typeface="Pompiere" panose="02000000000000000000"/>
                <a:ea typeface="Pompiere" panose="02000000000000000000"/>
                <a:cs typeface="Pompiere" panose="02000000000000000000"/>
                <a:sym typeface="Pompiere" panose="02000000000000000000"/>
              </a:rPr>
              <a:t>THANK</a:t>
            </a:r>
            <a:endParaRPr lang="en-US" sz="18505" spc="407">
              <a:solidFill>
                <a:srgbClr val="000000"/>
              </a:solidFill>
              <a:latin typeface="Pompiere" panose="02000000000000000000"/>
              <a:ea typeface="Pompiere" panose="02000000000000000000"/>
              <a:cs typeface="Pompiere" panose="02000000000000000000"/>
              <a:sym typeface="Pompiere" panose="02000000000000000000"/>
            </a:endParaRPr>
          </a:p>
          <a:p>
            <a:pPr algn="ctr">
              <a:lnSpc>
                <a:spcPts val="21650"/>
              </a:lnSpc>
            </a:pPr>
            <a:r>
              <a:rPr lang="en-US" sz="18505" spc="407">
                <a:solidFill>
                  <a:srgbClr val="000000"/>
                </a:solidFill>
                <a:latin typeface="Pompiere" panose="02000000000000000000"/>
                <a:ea typeface="Pompiere" panose="02000000000000000000"/>
                <a:cs typeface="Pompiere" panose="02000000000000000000"/>
                <a:sym typeface="Pompiere" panose="02000000000000000000"/>
              </a:rPr>
              <a:t>YOU!</a:t>
            </a:r>
            <a:endParaRPr lang="en-US" sz="18505" spc="407">
              <a:solidFill>
                <a:srgbClr val="000000"/>
              </a:solidFill>
              <a:latin typeface="Pompiere" panose="02000000000000000000"/>
              <a:ea typeface="Pompiere" panose="02000000000000000000"/>
              <a:cs typeface="Pompiere" panose="02000000000000000000"/>
              <a:sym typeface="Pompiere" panose="020000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 rot="-1657781">
            <a:off x="1662098" y="2066038"/>
            <a:ext cx="3829718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0"/>
              </a:lnSpc>
              <a:spcBef>
                <a:spcPct val="0"/>
              </a:spcBef>
            </a:pPr>
            <a:r>
              <a:rPr lang="en-US" sz="2610" spc="109" dirty="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PRESENTED TO YOU BY TEAM KSHEMANKARI</a:t>
            </a:r>
            <a:endParaRPr lang="en-US" sz="2610" spc="109" dirty="0">
              <a:solidFill>
                <a:srgbClr val="000000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301000" y="8371717"/>
            <a:ext cx="7334015" cy="1533702"/>
            <a:chOff x="0" y="0"/>
            <a:chExt cx="9778687" cy="2044936"/>
          </a:xfrm>
        </p:grpSpPr>
        <p:sp>
          <p:nvSpPr>
            <p:cNvPr id="10" name="Freeform 10"/>
            <p:cNvSpPr/>
            <p:nvPr/>
          </p:nvSpPr>
          <p:spPr>
            <a:xfrm>
              <a:off x="329200" y="0"/>
              <a:ext cx="2044936" cy="2044936"/>
            </a:xfrm>
            <a:custGeom>
              <a:avLst/>
              <a:gdLst/>
              <a:ahLst/>
              <a:cxnLst/>
              <a:rect l="l" t="t" r="r" b="b"/>
              <a:pathLst>
                <a:path w="2044936" h="2044936">
                  <a:moveTo>
                    <a:pt x="0" y="0"/>
                  </a:moveTo>
                  <a:lnTo>
                    <a:pt x="2044936" y="0"/>
                  </a:lnTo>
                  <a:lnTo>
                    <a:pt x="2044936" y="2044936"/>
                  </a:lnTo>
                  <a:lnTo>
                    <a:pt x="0" y="2044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810298" y="959381"/>
              <a:ext cx="739952" cy="739952"/>
            </a:xfrm>
            <a:custGeom>
              <a:avLst/>
              <a:gdLst/>
              <a:ahLst/>
              <a:cxnLst/>
              <a:rect l="l" t="t" r="r" b="b"/>
              <a:pathLst>
                <a:path w="739952" h="739952">
                  <a:moveTo>
                    <a:pt x="0" y="0"/>
                  </a:moveTo>
                  <a:lnTo>
                    <a:pt x="739952" y="0"/>
                  </a:lnTo>
                  <a:lnTo>
                    <a:pt x="739952" y="739952"/>
                  </a:lnTo>
                  <a:lnTo>
                    <a:pt x="0" y="739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986412" y="1162141"/>
              <a:ext cx="1994709" cy="442463"/>
            </a:xfrm>
            <a:custGeom>
              <a:avLst/>
              <a:gdLst/>
              <a:ahLst/>
              <a:cxnLst/>
              <a:rect l="l" t="t" r="r" b="b"/>
              <a:pathLst>
                <a:path w="1994709" h="442463">
                  <a:moveTo>
                    <a:pt x="0" y="0"/>
                  </a:moveTo>
                  <a:lnTo>
                    <a:pt x="1994710" y="0"/>
                  </a:lnTo>
                  <a:lnTo>
                    <a:pt x="1994710" y="442463"/>
                  </a:lnTo>
                  <a:lnTo>
                    <a:pt x="0" y="442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17284" y="977555"/>
              <a:ext cx="721778" cy="721778"/>
            </a:xfrm>
            <a:custGeom>
              <a:avLst/>
              <a:gdLst/>
              <a:ahLst/>
              <a:cxnLst/>
              <a:rect l="l" t="t" r="r" b="b"/>
              <a:pathLst>
                <a:path w="721778" h="721778">
                  <a:moveTo>
                    <a:pt x="0" y="0"/>
                  </a:moveTo>
                  <a:lnTo>
                    <a:pt x="721778" y="0"/>
                  </a:lnTo>
                  <a:lnTo>
                    <a:pt x="721778" y="721778"/>
                  </a:lnTo>
                  <a:lnTo>
                    <a:pt x="0" y="72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50026"/>
              <a:ext cx="9778687" cy="832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10"/>
                </a:lnSpc>
              </a:pPr>
              <a:r>
                <a:rPr lang="en-US" sz="2150" spc="-101">
                  <a:solidFill>
                    <a:srgbClr val="000000"/>
                  </a:solidFill>
                  <a:latin typeface="Balgin expanded" panose="00000305000000000000"/>
                  <a:ea typeface="Balgin expanded" panose="00000305000000000000"/>
                  <a:cs typeface="Balgin expanded" panose="00000305000000000000"/>
                  <a:sym typeface="Balgin expanded" panose="00000305000000000000"/>
                </a:rPr>
                <a:t>DISCOVER   MORE</a:t>
              </a:r>
              <a:endParaRPr lang="en-US" sz="2150" spc="-101">
                <a:solidFill>
                  <a:srgbClr val="000000"/>
                </a:solidFill>
                <a:latin typeface="Balgin expanded" panose="00000305000000000000"/>
                <a:ea typeface="Balgin expanded" panose="00000305000000000000"/>
                <a:cs typeface="Balgin expanded" panose="00000305000000000000"/>
                <a:sym typeface="Balgin expanded" panose="00000305000000000000"/>
              </a:endParaRPr>
            </a:p>
            <a:p>
              <a:pPr algn="ctr">
                <a:lnSpc>
                  <a:spcPts val="2410"/>
                </a:lnSpc>
              </a:pPr>
              <a:r>
                <a:rPr lang="en-US" sz="2150" spc="-101">
                  <a:solidFill>
                    <a:srgbClr val="000000"/>
                  </a:solidFill>
                  <a:latin typeface="Balgin expanded" panose="00000305000000000000"/>
                  <a:ea typeface="Balgin expanded" panose="00000305000000000000"/>
                  <a:cs typeface="Balgin expanded" panose="00000305000000000000"/>
                  <a:sym typeface="Balgin expanded" panose="00000305000000000000"/>
                </a:rPr>
                <a:t>  ONLINE</a:t>
              </a:r>
              <a:endParaRPr lang="en-US" sz="2150" spc="-101">
                <a:solidFill>
                  <a:srgbClr val="000000"/>
                </a:solidFill>
                <a:latin typeface="Balgin expanded" panose="00000305000000000000"/>
                <a:ea typeface="Balgin expanded" panose="00000305000000000000"/>
                <a:cs typeface="Balgin expanded" panose="00000305000000000000"/>
                <a:sym typeface="Balgin expanded" panose="0000030500000000000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2614</Words>
  <Application>WPS Presentation</Application>
  <PresentationFormat>Custom</PresentationFormat>
  <Paragraphs>123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Pompiere</vt:lpstr>
      <vt:lpstr>Handy Casual</vt:lpstr>
      <vt:lpstr>TAN Headline</vt:lpstr>
      <vt:lpstr>Arial</vt:lpstr>
      <vt:lpstr>Marykate</vt:lpstr>
      <vt:lpstr>Balgin expanded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</dc:title>
  <dc:creator/>
  <cp:lastModifiedBy>WPS_1785336688</cp:lastModifiedBy>
  <cp:revision>4</cp:revision>
  <dcterms:created xsi:type="dcterms:W3CDTF">2006-08-16T00:00:00Z</dcterms:created>
  <dcterms:modified xsi:type="dcterms:W3CDTF">2026-09-17T07:56:52Z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A6423371C21B4BFAAB21D3D1E10B859C_12</vt:lpwstr>
  </property>
  <property fmtid="{D5CDD505-2E9C-101B-9397-08002B2CF9AE}" pid="3" name="KSOProductBuildVer">
    <vt:lpwstr>1033-12.1.0.28485</vt:lpwstr>
  </property>
</Properties>
</file>